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myself briefly. The goal: a secure candidate API on AWS built with exactly the five requested services, where the real deliverable is the Terraform code. I will cover what I built, why, the limits, then run the live demo including destroy and re-apply.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deliverables. The instructions say the focus is Terraform, so the API code is deliberately small: about 250 lines, no framework, no dependencies to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SAS wording: I interpreted it as the AWS equivalent, a presigned URL. The data model follows the slide exactly, which is why the seed script recreates CA-000001 to CA-000007.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numbered flow: it follows the diagram given in the exercise, with exactly the five requested services and a single Lambda function. API Gateway sends the three routes to that function, which dispatches on method and path. It has one IAM role holding only the actions the routes need. API Gateway rejects bad tokens and missing scopes itself (2.b), so Lambda never runs for them. Point 6 is important: downloads never go through Lambda or API Gateway.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OAuth2 client, as the exercise asks. It can request both scopes, and API Gateway checks the scope per method: candidates.write for POST, candidates.read for GET. In the demo the same client asks for a token with the read scope only, and that token is refused on POST. Because authorization scopes are set on each method, the REST API Cognito authorizer expects an access token, which is exactly what client credentials returns. Invalid calls never invoke Lambda, so they cost nothing and cannot reach the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specialty as partition key would force the caller to know the specialty for a simple GET, so candidateId is the key and specialty goes in a GSI. The sequence item has no specialty attribute, so the sparse GSI never returns it, and its key fails the ID regex.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Emphasise that security is layered: even if one control fails, the next still holds, and all of it comes from the five requested services. The function has a single role, but it is still least privilege: only the seven actions the routes use, on the table, the index and the bucket objects. GDPR angle: personal data is encrypted at rest, never logged, and documents are only exposed through five-minute links.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asked about the checkov exceptions, each one is justified inline: no API caching because responses hold personal data, no DLQ for synchronous calls, no VPC because only managed AWS APIs are called, AWS managed encryption, and checks that require services outside the five requested ones.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only limit that matters functionally is file size, because of the Lambda payload limit. The GSI is eventually consistent: a new candidate may take a moment to appear in the list.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plan: run make destroy and make apply once before the panel to warm the provider cache. If the network is slow, show the recorded output. Outputs change after re-apply (new suffix); the scripts always read the current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explicit that these are conscious trade-offs, not gaps. The stack deliberately sticks to the five services of the exercise and to one function, as in the exercise diagram. If asked: splitting into one function per route would give each route its own role, so a flaw in the upload code could not read resumes, at the cost of more resources and cold starts.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on design choices: key design, why REST over HTTP API, why three functions, how I would move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 Id="rId15" Type="http://schemas.openxmlformats.org/officeDocument/2006/relationships/image" Target="../media/image-6-2.png"/><Relationship Id="rId1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44"/>
        </a:solidFill>
      </p:bgPr>
    </p:bg>
    <p:spTree>
      <p:nvGrpSpPr>
        <p:cNvPr id="1" name=""/>
        <p:cNvGrpSpPr/>
        <p:nvPr/>
      </p:nvGrpSpPr>
      <p:grpSpPr>
        <a:xfrm>
          <a:off x="0" y="0"/>
          <a:ext cx="0" cy="0"/>
          <a:chOff x="0" y="0"/>
          <a:chExt cx="0" cy="0"/>
        </a:xfrm>
      </p:grpSpPr>
      <p:sp>
        <p:nvSpPr>
          <p:cNvPr id="2" name="Text 0"/>
          <p:cNvSpPr txBox="1"/>
          <p:nvPr/>
        </p:nvSpPr>
        <p:spPr>
          <a:xfrm>
            <a:off x="731520" y="1097280"/>
            <a:ext cx="5486400" cy="365760"/>
          </a:xfrm>
          <a:prstGeom prst="rect">
            <a:avLst/>
          </a:prstGeom>
          <a:noFill/>
          <a:ln/>
        </p:spPr>
        <p:txBody>
          <a:bodyPr wrap="square" lIns="0" tIns="0" rIns="0" bIns="0" rtlCol="0" anchor="ctr"/>
          <a:lstStyle/>
          <a:p>
            <a:pPr indent="0" marL="0">
              <a:buNone/>
            </a:pPr>
            <a:r>
              <a:rPr lang="en-US" sz="1400" b="1" spc="400" kern="0" dirty="0">
                <a:solidFill>
                  <a:srgbClr val="1FB6E0"/>
                </a:solidFill>
                <a:latin typeface="Calibri" pitchFamily="34" charset="0"/>
                <a:ea typeface="Calibri" pitchFamily="34" charset="-122"/>
                <a:cs typeface="Calibri" pitchFamily="34" charset="-120"/>
              </a:rPr>
              <a:t>DEVOPS PANEL</a:t>
            </a:r>
            <a:endParaRPr lang="en-US" sz="1400" dirty="0"/>
          </a:p>
        </p:txBody>
      </p:sp>
      <p:sp>
        <p:nvSpPr>
          <p:cNvPr id="3" name="Text 1"/>
          <p:cNvSpPr txBox="1"/>
          <p:nvPr/>
        </p:nvSpPr>
        <p:spPr>
          <a:xfrm>
            <a:off x="731520" y="1645920"/>
            <a:ext cx="100584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Candidate Management API</a:t>
            </a:r>
            <a:endParaRPr lang="en-US" sz="4800" dirty="0"/>
          </a:p>
        </p:txBody>
      </p:sp>
      <p:sp>
        <p:nvSpPr>
          <p:cNvPr id="4" name="Text 2"/>
          <p:cNvSpPr txBox="1"/>
          <p:nvPr/>
        </p:nvSpPr>
        <p:spPr>
          <a:xfrm>
            <a:off x="731520" y="2560320"/>
            <a:ext cx="10058400" cy="548640"/>
          </a:xfrm>
          <a:prstGeom prst="rect">
            <a:avLst/>
          </a:prstGeom>
          <a:noFill/>
          <a:ln/>
        </p:spPr>
        <p:txBody>
          <a:bodyPr wrap="square" lIns="0" tIns="0" rIns="0" bIns="0" rtlCol="0" anchor="ctr"/>
          <a:lstStyle/>
          <a:p>
            <a:pPr indent="0" marL="0">
              <a:buNone/>
            </a:pPr>
            <a:r>
              <a:rPr lang="en-US" sz="2400" dirty="0">
                <a:solidFill>
                  <a:srgbClr val="C9D8F5"/>
                </a:solidFill>
                <a:latin typeface="Calibri" pitchFamily="34" charset="0"/>
                <a:ea typeface="Calibri" pitchFamily="34" charset="-122"/>
                <a:cs typeface="Calibri" pitchFamily="34" charset="-120"/>
              </a:rPr>
              <a:t>Serverless on AWS, fully automated with Terraform</a:t>
            </a:r>
            <a:endParaRPr lang="en-US" sz="2400" dirty="0"/>
          </a:p>
        </p:txBody>
      </p:sp>
      <p:sp>
        <p:nvSpPr>
          <p:cNvPr id="5" name="Shape 3"/>
          <p:cNvSpPr/>
          <p:nvPr/>
        </p:nvSpPr>
        <p:spPr>
          <a:xfrm>
            <a:off x="731520" y="3520440"/>
            <a:ext cx="1385316" cy="384048"/>
          </a:xfrm>
          <a:prstGeom prst="roundRect">
            <a:avLst>
              <a:gd name="adj" fmla="val 47619"/>
            </a:avLst>
          </a:prstGeom>
          <a:solidFill>
            <a:srgbClr val="16295F"/>
          </a:solidFill>
          <a:ln w="12700">
            <a:solidFill>
              <a:srgbClr val="1FB6E0"/>
            </a:solidFill>
            <a:prstDash val="solid"/>
          </a:ln>
        </p:spPr>
        <p:txBody>
          <a:bodyPr/>
          <a:p/>
        </p:txBody>
      </p:sp>
      <p:sp>
        <p:nvSpPr>
          <p:cNvPr id="6" name="Text 4"/>
          <p:cNvSpPr txBox="1"/>
          <p:nvPr/>
        </p:nvSpPr>
        <p:spPr>
          <a:xfrm>
            <a:off x="731520" y="3520440"/>
            <a:ext cx="1385316"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API Gateway</a:t>
            </a:r>
            <a:endParaRPr lang="en-US" sz="1200" dirty="0"/>
          </a:p>
        </p:txBody>
      </p:sp>
      <p:sp>
        <p:nvSpPr>
          <p:cNvPr id="7" name="Shape 5"/>
          <p:cNvSpPr/>
          <p:nvPr/>
        </p:nvSpPr>
        <p:spPr>
          <a:xfrm>
            <a:off x="2253996" y="3520440"/>
            <a:ext cx="1700784" cy="384048"/>
          </a:xfrm>
          <a:prstGeom prst="roundRect">
            <a:avLst>
              <a:gd name="adj" fmla="val 47619"/>
            </a:avLst>
          </a:prstGeom>
          <a:solidFill>
            <a:srgbClr val="16295F"/>
          </a:solidFill>
          <a:ln w="12700">
            <a:solidFill>
              <a:srgbClr val="1FB6E0"/>
            </a:solidFill>
            <a:prstDash val="solid"/>
          </a:ln>
        </p:spPr>
        <p:txBody>
          <a:bodyPr/>
          <a:p/>
        </p:txBody>
      </p:sp>
      <p:sp>
        <p:nvSpPr>
          <p:cNvPr id="8" name="Text 6"/>
          <p:cNvSpPr txBox="1"/>
          <p:nvPr/>
        </p:nvSpPr>
        <p:spPr>
          <a:xfrm>
            <a:off x="2253996" y="3520440"/>
            <a:ext cx="1700784"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Cognito OAuth2</a:t>
            </a:r>
            <a:endParaRPr lang="en-US" sz="1200" dirty="0"/>
          </a:p>
        </p:txBody>
      </p:sp>
      <p:sp>
        <p:nvSpPr>
          <p:cNvPr id="9" name="Shape 7"/>
          <p:cNvSpPr/>
          <p:nvPr/>
        </p:nvSpPr>
        <p:spPr>
          <a:xfrm>
            <a:off x="4091940" y="3520440"/>
            <a:ext cx="859536" cy="384048"/>
          </a:xfrm>
          <a:prstGeom prst="roundRect">
            <a:avLst>
              <a:gd name="adj" fmla="val 47619"/>
            </a:avLst>
          </a:prstGeom>
          <a:solidFill>
            <a:srgbClr val="16295F"/>
          </a:solidFill>
          <a:ln w="12700">
            <a:solidFill>
              <a:srgbClr val="1FB6E0"/>
            </a:solidFill>
            <a:prstDash val="solid"/>
          </a:ln>
        </p:spPr>
        <p:txBody>
          <a:bodyPr/>
          <a:p/>
        </p:txBody>
      </p:sp>
      <p:sp>
        <p:nvSpPr>
          <p:cNvPr id="10" name="Text 8"/>
          <p:cNvSpPr txBox="1"/>
          <p:nvPr/>
        </p:nvSpPr>
        <p:spPr>
          <a:xfrm>
            <a:off x="4091940" y="3520440"/>
            <a:ext cx="859536"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Lambda</a:t>
            </a:r>
            <a:endParaRPr lang="en-US" sz="1200" dirty="0"/>
          </a:p>
        </p:txBody>
      </p:sp>
      <p:sp>
        <p:nvSpPr>
          <p:cNvPr id="11" name="Shape 9"/>
          <p:cNvSpPr/>
          <p:nvPr/>
        </p:nvSpPr>
        <p:spPr>
          <a:xfrm>
            <a:off x="5088636" y="3520440"/>
            <a:ext cx="1069848" cy="384048"/>
          </a:xfrm>
          <a:prstGeom prst="roundRect">
            <a:avLst>
              <a:gd name="adj" fmla="val 47619"/>
            </a:avLst>
          </a:prstGeom>
          <a:solidFill>
            <a:srgbClr val="16295F"/>
          </a:solidFill>
          <a:ln w="12700">
            <a:solidFill>
              <a:srgbClr val="1FB6E0"/>
            </a:solidFill>
            <a:prstDash val="solid"/>
          </a:ln>
        </p:spPr>
        <p:txBody>
          <a:bodyPr/>
          <a:p/>
        </p:txBody>
      </p:sp>
      <p:sp>
        <p:nvSpPr>
          <p:cNvPr id="12" name="Text 10"/>
          <p:cNvSpPr txBox="1"/>
          <p:nvPr/>
        </p:nvSpPr>
        <p:spPr>
          <a:xfrm>
            <a:off x="5088636" y="3520440"/>
            <a:ext cx="10698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DynamoDB</a:t>
            </a:r>
            <a:endParaRPr lang="en-US" sz="1200" dirty="0"/>
          </a:p>
        </p:txBody>
      </p:sp>
      <p:sp>
        <p:nvSpPr>
          <p:cNvPr id="13" name="Shape 11"/>
          <p:cNvSpPr/>
          <p:nvPr/>
        </p:nvSpPr>
        <p:spPr>
          <a:xfrm>
            <a:off x="6295644" y="3520440"/>
            <a:ext cx="438912" cy="384048"/>
          </a:xfrm>
          <a:prstGeom prst="roundRect">
            <a:avLst>
              <a:gd name="adj" fmla="val 47619"/>
            </a:avLst>
          </a:prstGeom>
          <a:solidFill>
            <a:srgbClr val="16295F"/>
          </a:solidFill>
          <a:ln w="12700">
            <a:solidFill>
              <a:srgbClr val="1FB6E0"/>
            </a:solidFill>
            <a:prstDash val="solid"/>
          </a:ln>
        </p:spPr>
        <p:txBody>
          <a:bodyPr/>
          <a:p/>
        </p:txBody>
      </p:sp>
      <p:sp>
        <p:nvSpPr>
          <p:cNvPr id="14" name="Text 12"/>
          <p:cNvSpPr txBox="1"/>
          <p:nvPr/>
        </p:nvSpPr>
        <p:spPr>
          <a:xfrm>
            <a:off x="6295644" y="3520440"/>
            <a:ext cx="438912"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S3</a:t>
            </a:r>
            <a:endParaRPr lang="en-US" sz="1200" dirty="0"/>
          </a:p>
        </p:txBody>
      </p:sp>
      <p:sp>
        <p:nvSpPr>
          <p:cNvPr id="19" name="Shape 17"/>
          <p:cNvSpPr/>
          <p:nvPr/>
        </p:nvSpPr>
        <p:spPr>
          <a:xfrm>
            <a:off x="8412480" y="1463040"/>
            <a:ext cx="3108960" cy="3108960"/>
          </a:xfrm>
          <a:prstGeom prst="ellipse">
            <a:avLst/>
          </a:prstGeom>
          <a:solidFill>
            <a:srgbClr val="16295F"/>
          </a:solidFill>
          <a:ln w="19050">
            <a:solidFill>
              <a:srgbClr val="1FB6E0"/>
            </a:solidFill>
            <a:prstDash val="solid"/>
          </a:ln>
        </p:spPr>
        <p:txBody>
          <a:bodyPr/>
          <a:p/>
        </p:txBody>
      </p:sp>
      <p:pic>
        <p:nvPicPr>
          <p:cNvPr id="20" name="Image 0" descr="preencoded.png">    </p:cNvPr>
          <p:cNvPicPr>
            <a:picLocks noChangeAspect="1"/>
          </p:cNvPicPr>
          <p:nvPr/>
        </p:nvPicPr>
        <p:blipFill>
          <a:blip r:embed="rId1"/>
          <a:stretch>
            <a:fillRect/>
          </a:stretch>
        </p:blipFill>
        <p:spPr>
          <a:xfrm>
            <a:off x="9189720" y="2240280"/>
            <a:ext cx="1554480" cy="1554480"/>
          </a:xfrm>
          <a:prstGeom prst="rect">
            <a:avLst/>
          </a:prstGeom>
        </p:spPr>
      </p:pic>
      <p:sp>
        <p:nvSpPr>
          <p:cNvPr id="21" name="Text 18"/>
          <p:cNvSpPr txBox="1"/>
          <p:nvPr/>
        </p:nvSpPr>
        <p:spPr>
          <a:xfrm>
            <a:off x="731520" y="5212080"/>
            <a:ext cx="731520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Chrisco Mampuya Ngangu</a:t>
            </a:r>
            <a:endParaRPr lang="en-US" sz="2000" dirty="0"/>
          </a:p>
        </p:txBody>
      </p:sp>
      <p:sp>
        <p:nvSpPr>
          <p:cNvPr id="22" name="Text 19"/>
          <p:cNvSpPr txBox="1"/>
          <p:nvPr/>
        </p:nvSpPr>
        <p:spPr>
          <a:xfrm>
            <a:off x="731520" y="5623560"/>
            <a:ext cx="7315200" cy="365760"/>
          </a:xfrm>
          <a:prstGeom prst="rect">
            <a:avLst/>
          </a:prstGeom>
          <a:noFill/>
          <a:ln/>
        </p:spPr>
        <p:txBody>
          <a:bodyPr wrap="square" lIns="0" tIns="0" rIns="0" bIns="0" rtlCol="0" anchor="ctr"/>
          <a:lstStyle/>
          <a:p>
            <a:pPr indent="0" marL="0">
              <a:buNone/>
            </a:pPr>
            <a:r>
              <a:rPr lang="en-US" sz="1500" dirty="0">
                <a:solidFill>
                  <a:srgbClr val="C9D8F5"/>
                </a:solidFill>
                <a:latin typeface="Calibri" pitchFamily="34" charset="0"/>
                <a:ea typeface="Calibri" pitchFamily="34" charset="-122"/>
                <a:cs typeface="Calibri" pitchFamily="34" charset="-120"/>
              </a:rPr>
              <a:t>Senior Cloud &amp; DevOps Engineer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indent="0" marL="0">
              <a:buNone/>
            </a:pPr>
            <a:r>
              <a:rPr lang="en-US" sz="3200" b="1" dirty="0">
                <a:solidFill>
                  <a:srgbClr val="0A1A44"/>
                </a:solidFill>
                <a:latin typeface="Calibri" pitchFamily="34" charset="0"/>
                <a:ea typeface="Calibri" pitchFamily="34" charset="-122"/>
                <a:cs typeface="Calibri" pitchFamily="34" charset="-120"/>
              </a:rPr>
              <a:t>What I delivered</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indent="0" marL="0">
              <a:buNone/>
            </a:pPr>
            <a:r>
              <a:rPr lang="en-US" sz="1500" dirty="0">
                <a:solidFill>
                  <a:srgbClr val="5B6478"/>
                </a:solidFill>
                <a:latin typeface="Calibri" pitchFamily="34" charset="0"/>
                <a:ea typeface="Calibri" pitchFamily="34" charset="-122"/>
                <a:cs typeface="Calibri" pitchFamily="34" charset="-120"/>
              </a:rPr>
              <a:t>Everything lives in one repository and deploys with a single command</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737360"/>
            <a:ext cx="2606040" cy="3200400"/>
          </a:xfrm>
          <a:prstGeom prst="roundRect">
            <a:avLst>
              <a:gd name="adj" fmla="val 2807"/>
            </a:avLst>
          </a:prstGeom>
          <a:solidFill>
            <a:srgbClr val="EAF1FC"/>
          </a:solidFill>
          <a:ln w="12700">
            <a:solidFill>
              <a:srgbClr val="EAF1FC"/>
            </a:solidFill>
            <a:prstDash val="solid"/>
          </a:ln>
        </p:spPr>
        <p:txBody>
          <a:bodyPr/>
          <a:p/>
        </p:txBody>
      </p:sp>
      <p:sp>
        <p:nvSpPr>
          <p:cNvPr id="6" name="Shape 4"/>
          <p:cNvSpPr/>
          <p:nvPr/>
        </p:nvSpPr>
        <p:spPr>
          <a:xfrm>
            <a:off x="822960" y="2011680"/>
            <a:ext cx="777240" cy="777240"/>
          </a:xfrm>
          <a:prstGeom prst="ellipse">
            <a:avLst/>
          </a:prstGeom>
          <a:solidFill>
            <a:srgbClr val="0033A8"/>
          </a:solidFill>
          <a:ln w="12700">
            <a:solidFill>
              <a:srgbClr val="0033A8"/>
            </a:solidFill>
            <a:prstDash val="solid"/>
          </a:ln>
        </p:spPr>
        <p:txBody>
          <a:bodyPr/>
          <a:p/>
        </p:txBody>
      </p:sp>
      <p:pic>
        <p:nvPicPr>
          <p:cNvPr id="7" name="Image 0" descr="preencoded.png">    </p:cNvPr>
          <p:cNvPicPr>
            <a:picLocks noChangeAspect="1"/>
          </p:cNvPicPr>
          <p:nvPr/>
        </p:nvPicPr>
        <p:blipFill>
          <a:blip r:embed="rId1"/>
          <a:stretch>
            <a:fillRect/>
          </a:stretch>
        </p:blipFill>
        <p:spPr>
          <a:xfrm>
            <a:off x="1025042" y="2213762"/>
            <a:ext cx="373075" cy="373075"/>
          </a:xfrm>
          <a:prstGeom prst="rect">
            <a:avLst/>
          </a:prstGeom>
        </p:spPr>
      </p:pic>
      <p:sp>
        <p:nvSpPr>
          <p:cNvPr id="8" name="Text 5"/>
          <p:cNvSpPr txBox="1"/>
          <p:nvPr/>
        </p:nvSpPr>
        <p:spPr>
          <a:xfrm>
            <a:off x="822960" y="2971800"/>
            <a:ext cx="2103120" cy="731520"/>
          </a:xfrm>
          <a:prstGeom prst="rect">
            <a:avLst/>
          </a:prstGeom>
          <a:noFill/>
          <a:ln/>
        </p:spPr>
        <p:txBody>
          <a:bodyPr wrap="square" lIns="0" tIns="0" rIns="0" bIns="0" rtlCol="0" anchor="t"/>
          <a:lstStyle/>
          <a:p>
            <a:pPr indent="0" marL="0">
              <a:buNone/>
            </a:pPr>
            <a:r>
              <a:rPr lang="en-US" sz="1900" b="1" dirty="0">
                <a:solidFill>
                  <a:srgbClr val="0A1A44"/>
                </a:solidFill>
                <a:latin typeface="Calibri" pitchFamily="34" charset="0"/>
                <a:ea typeface="Calibri" pitchFamily="34" charset="-122"/>
                <a:cs typeface="Calibri" pitchFamily="34" charset="-120"/>
              </a:rPr>
              <a:t>Technical specification</a:t>
            </a:r>
            <a:endParaRPr lang="en-US" sz="1900" dirty="0"/>
          </a:p>
        </p:txBody>
      </p:sp>
      <p:sp>
        <p:nvSpPr>
          <p:cNvPr id="9" name="Text 6"/>
          <p:cNvSpPr txBox="1"/>
          <p:nvPr/>
        </p:nvSpPr>
        <p:spPr>
          <a:xfrm>
            <a:off x="822960" y="3703320"/>
            <a:ext cx="2103120" cy="1463040"/>
          </a:xfrm>
          <a:prstGeom prst="rect">
            <a:avLst/>
          </a:prstGeom>
          <a:noFill/>
          <a:ln/>
        </p:spPr>
        <p:txBody>
          <a:bodyPr wrap="square" lIns="0" tIns="0" rIns="0" bIns="0" rtlCol="0" anchor="t"/>
          <a:lstStyle/>
          <a:p>
            <a:pPr indent="0" marL="0">
              <a:buNone/>
            </a:pPr>
            <a:r>
              <a:rPr lang="en-US" sz="1400" dirty="0">
                <a:solidFill>
                  <a:srgbClr val="1B2233"/>
                </a:solidFill>
                <a:latin typeface="Calibri" pitchFamily="34" charset="0"/>
                <a:ea typeface="Calibri" pitchFamily="34" charset="-122"/>
                <a:cs typeface="Calibri" pitchFamily="34" charset="-120"/>
              </a:rPr>
              <a:t>Architecture, security, API contract, limits and quotas, deployment and test guide</a:t>
            </a:r>
            <a:endParaRPr lang="en-US" sz="1400" dirty="0"/>
          </a:p>
        </p:txBody>
      </p:sp>
      <p:sp>
        <p:nvSpPr>
          <p:cNvPr id="10" name="Shape 7"/>
          <p:cNvSpPr/>
          <p:nvPr/>
        </p:nvSpPr>
        <p:spPr>
          <a:xfrm>
            <a:off x="3364992" y="1737360"/>
            <a:ext cx="2606040" cy="3200400"/>
          </a:xfrm>
          <a:prstGeom prst="roundRect">
            <a:avLst>
              <a:gd name="adj" fmla="val 2807"/>
            </a:avLst>
          </a:prstGeom>
          <a:solidFill>
            <a:srgbClr val="EAF1FC"/>
          </a:solidFill>
          <a:ln w="12700">
            <a:solidFill>
              <a:srgbClr val="EAF1FC"/>
            </a:solidFill>
            <a:prstDash val="solid"/>
          </a:ln>
        </p:spPr>
        <p:txBody>
          <a:bodyPr/>
          <a:p/>
        </p:txBody>
      </p:sp>
      <p:sp>
        <p:nvSpPr>
          <p:cNvPr id="11" name="Shape 8"/>
          <p:cNvSpPr/>
          <p:nvPr/>
        </p:nvSpPr>
        <p:spPr>
          <a:xfrm>
            <a:off x="3639312" y="2011680"/>
            <a:ext cx="777240" cy="777240"/>
          </a:xfrm>
          <a:prstGeom prst="ellipse">
            <a:avLst/>
          </a:prstGeom>
          <a:solidFill>
            <a:srgbClr val="0033A8"/>
          </a:solidFill>
          <a:ln w="12700">
            <a:solidFill>
              <a:srgbClr val="0033A8"/>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3841394" y="2213762"/>
            <a:ext cx="373075" cy="373075"/>
          </a:xfrm>
          <a:prstGeom prst="rect">
            <a:avLst/>
          </a:prstGeom>
        </p:spPr>
      </p:pic>
      <p:sp>
        <p:nvSpPr>
          <p:cNvPr id="13" name="Text 9"/>
          <p:cNvSpPr txBox="1"/>
          <p:nvPr/>
        </p:nvSpPr>
        <p:spPr>
          <a:xfrm>
            <a:off x="3639312" y="2971800"/>
            <a:ext cx="2103120" cy="731520"/>
          </a:xfrm>
          <a:prstGeom prst="rect">
            <a:avLst/>
          </a:prstGeom>
          <a:noFill/>
          <a:ln/>
        </p:spPr>
        <p:txBody>
          <a:bodyPr wrap="square" lIns="0" tIns="0" rIns="0" bIns="0" rtlCol="0" anchor="t"/>
          <a:lstStyle/>
          <a:p>
            <a:pPr indent="0" marL="0">
              <a:buNone/>
            </a:pPr>
            <a:r>
              <a:rPr lang="en-US" sz="1900" b="1" dirty="0">
                <a:solidFill>
                  <a:srgbClr val="0A1A44"/>
                </a:solidFill>
                <a:latin typeface="Calibri" pitchFamily="34" charset="0"/>
                <a:ea typeface="Calibri" pitchFamily="34" charset="-122"/>
                <a:cs typeface="Calibri" pitchFamily="34" charset="-120"/>
              </a:rPr>
              <a:t>Terraform IaC</a:t>
            </a:r>
            <a:endParaRPr lang="en-US" sz="1900" dirty="0"/>
          </a:p>
        </p:txBody>
      </p:sp>
      <p:sp>
        <p:nvSpPr>
          <p:cNvPr id="14" name="Text 10"/>
          <p:cNvSpPr txBox="1"/>
          <p:nvPr/>
        </p:nvSpPr>
        <p:spPr>
          <a:xfrm>
            <a:off x="3639312" y="3703320"/>
            <a:ext cx="2103120" cy="1463040"/>
          </a:xfrm>
          <a:prstGeom prst="rect">
            <a:avLst/>
          </a:prstGeom>
          <a:noFill/>
          <a:ln/>
        </p:spPr>
        <p:txBody>
          <a:bodyPr wrap="square" lIns="0" tIns="0" rIns="0" bIns="0" rtlCol="0" anchor="t"/>
          <a:lstStyle/>
          <a:p>
            <a:pPr indent="0" marL="0">
              <a:buNone/>
            </a:pPr>
            <a:r>
              <a:rPr lang="en-US" sz="1400" dirty="0">
                <a:solidFill>
                  <a:srgbClr val="1B2233"/>
                </a:solidFill>
                <a:latin typeface="Calibri" pitchFamily="34" charset="0"/>
                <a:ea typeface="Calibri" pitchFamily="34" charset="-122"/>
                <a:cs typeface="Calibri" pitchFamily="34" charset="-120"/>
              </a:rPr>
              <a:t>5 modules, one per service, remote state with native S3 locking, validated inputs, checkov clean</a:t>
            </a:r>
            <a:endParaRPr lang="en-US" sz="1400" dirty="0"/>
          </a:p>
        </p:txBody>
      </p:sp>
      <p:sp>
        <p:nvSpPr>
          <p:cNvPr id="15" name="Shape 11"/>
          <p:cNvSpPr/>
          <p:nvPr/>
        </p:nvSpPr>
        <p:spPr>
          <a:xfrm>
            <a:off x="6181344" y="1737360"/>
            <a:ext cx="2606040" cy="3200400"/>
          </a:xfrm>
          <a:prstGeom prst="roundRect">
            <a:avLst>
              <a:gd name="adj" fmla="val 2807"/>
            </a:avLst>
          </a:prstGeom>
          <a:solidFill>
            <a:srgbClr val="EAF1FC"/>
          </a:solidFill>
          <a:ln w="12700">
            <a:solidFill>
              <a:srgbClr val="EAF1FC"/>
            </a:solidFill>
            <a:prstDash val="solid"/>
          </a:ln>
        </p:spPr>
        <p:txBody>
          <a:bodyPr/>
          <a:p/>
        </p:txBody>
      </p:sp>
      <p:sp>
        <p:nvSpPr>
          <p:cNvPr id="16" name="Shape 12"/>
          <p:cNvSpPr/>
          <p:nvPr/>
        </p:nvSpPr>
        <p:spPr>
          <a:xfrm>
            <a:off x="6455664" y="2011680"/>
            <a:ext cx="777240" cy="777240"/>
          </a:xfrm>
          <a:prstGeom prst="ellipse">
            <a:avLst/>
          </a:prstGeom>
          <a:solidFill>
            <a:srgbClr val="0033A8"/>
          </a:solidFill>
          <a:ln w="12700">
            <a:solidFill>
              <a:srgbClr val="0033A8"/>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6657746" y="2213762"/>
            <a:ext cx="373075" cy="373075"/>
          </a:xfrm>
          <a:prstGeom prst="rect">
            <a:avLst/>
          </a:prstGeom>
        </p:spPr>
      </p:pic>
      <p:sp>
        <p:nvSpPr>
          <p:cNvPr id="18" name="Text 13"/>
          <p:cNvSpPr txBox="1"/>
          <p:nvPr/>
        </p:nvSpPr>
        <p:spPr>
          <a:xfrm>
            <a:off x="6455664" y="2971800"/>
            <a:ext cx="2103120" cy="731520"/>
          </a:xfrm>
          <a:prstGeom prst="rect">
            <a:avLst/>
          </a:prstGeom>
          <a:noFill/>
          <a:ln/>
        </p:spPr>
        <p:txBody>
          <a:bodyPr wrap="square" lIns="0" tIns="0" rIns="0" bIns="0" rtlCol="0" anchor="t"/>
          <a:lstStyle/>
          <a:p>
            <a:pPr indent="0" marL="0">
              <a:buNone/>
            </a:pPr>
            <a:r>
              <a:rPr lang="en-US" sz="1900" b="1" dirty="0">
                <a:solidFill>
                  <a:srgbClr val="0A1A44"/>
                </a:solidFill>
                <a:latin typeface="Calibri" pitchFamily="34" charset="0"/>
                <a:ea typeface="Calibri" pitchFamily="34" charset="-122"/>
                <a:cs typeface="Calibri" pitchFamily="34" charset="-120"/>
              </a:rPr>
              <a:t>API code</a:t>
            </a:r>
            <a:endParaRPr lang="en-US" sz="1900" dirty="0"/>
          </a:p>
        </p:txBody>
      </p:sp>
      <p:sp>
        <p:nvSpPr>
          <p:cNvPr id="19" name="Text 14"/>
          <p:cNvSpPr txBox="1"/>
          <p:nvPr/>
        </p:nvSpPr>
        <p:spPr>
          <a:xfrm>
            <a:off x="6455664" y="3703320"/>
            <a:ext cx="2103120" cy="1463040"/>
          </a:xfrm>
          <a:prstGeom prst="rect">
            <a:avLst/>
          </a:prstGeom>
          <a:noFill/>
          <a:ln/>
        </p:spPr>
        <p:txBody>
          <a:bodyPr wrap="square" lIns="0" tIns="0" rIns="0" bIns="0" rtlCol="0" anchor="t"/>
          <a:lstStyle/>
          <a:p>
            <a:pPr indent="0" marL="0">
              <a:buNone/>
            </a:pPr>
            <a:r>
              <a:rPr lang="en-US" sz="1400" dirty="0">
                <a:solidFill>
                  <a:srgbClr val="1B2233"/>
                </a:solidFill>
                <a:latin typeface="Calibri" pitchFamily="34" charset="0"/>
                <a:ea typeface="Calibri" pitchFamily="34" charset="-122"/>
                <a:cs typeface="Calibri" pitchFamily="34" charset="-120"/>
              </a:rPr>
              <a:t>Python 3.13, one function for the three routes, standard library + boto3 only, tested locally</a:t>
            </a:r>
            <a:endParaRPr lang="en-US" sz="1400" dirty="0"/>
          </a:p>
        </p:txBody>
      </p:sp>
      <p:sp>
        <p:nvSpPr>
          <p:cNvPr id="20" name="Shape 15"/>
          <p:cNvSpPr/>
          <p:nvPr/>
        </p:nvSpPr>
        <p:spPr>
          <a:xfrm>
            <a:off x="8997696" y="1737360"/>
            <a:ext cx="2606040" cy="3200400"/>
          </a:xfrm>
          <a:prstGeom prst="roundRect">
            <a:avLst>
              <a:gd name="adj" fmla="val 2807"/>
            </a:avLst>
          </a:prstGeom>
          <a:solidFill>
            <a:srgbClr val="EAF1FC"/>
          </a:solidFill>
          <a:ln w="12700">
            <a:solidFill>
              <a:srgbClr val="EAF1FC"/>
            </a:solidFill>
            <a:prstDash val="solid"/>
          </a:ln>
        </p:spPr>
        <p:txBody>
          <a:bodyPr/>
          <a:p/>
        </p:txBody>
      </p:sp>
      <p:sp>
        <p:nvSpPr>
          <p:cNvPr id="21" name="Shape 16"/>
          <p:cNvSpPr/>
          <p:nvPr/>
        </p:nvSpPr>
        <p:spPr>
          <a:xfrm>
            <a:off x="9272016" y="2011680"/>
            <a:ext cx="777240" cy="777240"/>
          </a:xfrm>
          <a:prstGeom prst="ellipse">
            <a:avLst/>
          </a:prstGeom>
          <a:solidFill>
            <a:srgbClr val="0033A8"/>
          </a:solidFill>
          <a:ln w="12700">
            <a:solidFill>
              <a:srgbClr val="0033A8"/>
            </a:solidFill>
            <a:prstDash val="solid"/>
          </a:ln>
        </p:spPr>
        <p:txBody>
          <a:bodyPr/>
          <a:p/>
        </p:txBody>
      </p:sp>
      <p:pic>
        <p:nvPicPr>
          <p:cNvPr id="22" name="Image 3" descr="preencoded.png">    </p:cNvPr>
          <p:cNvPicPr>
            <a:picLocks noChangeAspect="1"/>
          </p:cNvPicPr>
          <p:nvPr/>
        </p:nvPicPr>
        <p:blipFill>
          <a:blip r:embed="rId4"/>
          <a:stretch>
            <a:fillRect/>
          </a:stretch>
        </p:blipFill>
        <p:spPr>
          <a:xfrm>
            <a:off x="9474098" y="2213762"/>
            <a:ext cx="373075" cy="373075"/>
          </a:xfrm>
          <a:prstGeom prst="rect">
            <a:avLst/>
          </a:prstGeom>
        </p:spPr>
      </p:pic>
      <p:sp>
        <p:nvSpPr>
          <p:cNvPr id="23" name="Text 17"/>
          <p:cNvSpPr txBox="1"/>
          <p:nvPr/>
        </p:nvSpPr>
        <p:spPr>
          <a:xfrm>
            <a:off x="9272016" y="2971800"/>
            <a:ext cx="2103120" cy="731520"/>
          </a:xfrm>
          <a:prstGeom prst="rect">
            <a:avLst/>
          </a:prstGeom>
          <a:noFill/>
          <a:ln/>
        </p:spPr>
        <p:txBody>
          <a:bodyPr wrap="square" lIns="0" tIns="0" rIns="0" bIns="0" rtlCol="0" anchor="t"/>
          <a:lstStyle/>
          <a:p>
            <a:pPr indent="0" marL="0">
              <a:buNone/>
            </a:pPr>
            <a:r>
              <a:rPr lang="en-US" sz="1900" b="1" dirty="0">
                <a:solidFill>
                  <a:srgbClr val="0A1A44"/>
                </a:solidFill>
                <a:latin typeface="Calibri" pitchFamily="34" charset="0"/>
                <a:ea typeface="Calibri" pitchFamily="34" charset="-122"/>
                <a:cs typeface="Calibri" pitchFamily="34" charset="-120"/>
              </a:rPr>
              <a:t>Demo tooling</a:t>
            </a:r>
            <a:endParaRPr lang="en-US" sz="1900" dirty="0"/>
          </a:p>
        </p:txBody>
      </p:sp>
      <p:sp>
        <p:nvSpPr>
          <p:cNvPr id="24" name="Text 18"/>
          <p:cNvSpPr txBox="1"/>
          <p:nvPr/>
        </p:nvSpPr>
        <p:spPr>
          <a:xfrm>
            <a:off x="9272016" y="3703320"/>
            <a:ext cx="2103120" cy="1463040"/>
          </a:xfrm>
          <a:prstGeom prst="rect">
            <a:avLst/>
          </a:prstGeom>
          <a:noFill/>
          <a:ln/>
        </p:spPr>
        <p:txBody>
          <a:bodyPr wrap="square" lIns="0" tIns="0" rIns="0" bIns="0" rtlCol="0" anchor="t"/>
          <a:lstStyle/>
          <a:p>
            <a:pPr indent="0" marL="0">
              <a:buNone/>
            </a:pPr>
            <a:r>
              <a:rPr lang="en-US" sz="1400" dirty="0">
                <a:solidFill>
                  <a:srgbClr val="1B2233"/>
                </a:solidFill>
                <a:latin typeface="Calibri" pitchFamily="34" charset="0"/>
                <a:ea typeface="Calibri" pitchFamily="34" charset="-122"/>
                <a:cs typeface="Calibri" pitchFamily="34" charset="-120"/>
              </a:rPr>
              <a:t>Makefile, curl scripts, Postman collection, sample data set from the exercise</a:t>
            </a:r>
            <a:endParaRPr lang="en-US" sz="1400" dirty="0"/>
          </a:p>
        </p:txBody>
      </p:sp>
      <p:sp>
        <p:nvSpPr>
          <p:cNvPr id="25" name="Text 19"/>
          <p:cNvSpPr txBox="1"/>
          <p:nvPr/>
        </p:nvSpPr>
        <p:spPr>
          <a:xfrm>
            <a:off x="548640" y="5349240"/>
            <a:ext cx="10972800" cy="411480"/>
          </a:xfrm>
          <a:prstGeom prst="rect">
            <a:avLst/>
          </a:prstGeom>
          <a:noFill/>
          <a:ln/>
        </p:spPr>
        <p:txBody>
          <a:bodyPr wrap="square" lIns="0" tIns="0" rIns="0" bIns="0" rtlCol="0" anchor="ctr"/>
          <a:lstStyle/>
          <a:p>
            <a:pPr indent="0" marL="0">
              <a:buNone/>
            </a:pPr>
            <a:r>
              <a:rPr lang="en-US" sz="1600" b="1" dirty="0">
                <a:solidFill>
                  <a:srgbClr val="0A1A44"/>
                </a:solidFill>
                <a:latin typeface="Calibri" pitchFamily="34" charset="0"/>
                <a:ea typeface="Calibri" pitchFamily="34" charset="-122"/>
                <a:cs typeface="Calibri" pitchFamily="34" charset="-120"/>
              </a:rPr>
              <a:t>All requirements covered, </a:t>
            </a:r>
            <a:pPr indent="0" marL="0">
              <a:buNone/>
            </a:pPr>
            <a:r>
              <a:rPr lang="en-US" sz="1600" dirty="0">
                <a:solidFill>
                  <a:srgbClr val="1B2233"/>
                </a:solidFill>
                <a:latin typeface="Calibri" pitchFamily="34" charset="0"/>
                <a:ea typeface="Calibri" pitchFamily="34" charset="-122"/>
                <a:cs typeface="Calibri" pitchFamily="34" charset="-120"/>
              </a:rPr>
              <a:t>including the optional list-by-specialty endpoint.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indent="0" marL="0">
              <a:buNone/>
            </a:pPr>
            <a:r>
              <a:rPr lang="en-US" sz="3200" b="1" dirty="0">
                <a:solidFill>
                  <a:srgbClr val="0A1A44"/>
                </a:solidFill>
                <a:latin typeface="Calibri" pitchFamily="34" charset="0"/>
                <a:ea typeface="Calibri" pitchFamily="34" charset="-122"/>
                <a:cs typeface="Calibri" pitchFamily="34" charset="-120"/>
              </a:rPr>
              <a:t>From requirements to design</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indent="0" marL="0">
              <a:buNone/>
            </a:pPr>
            <a:r>
              <a:rPr lang="en-US" sz="1500" dirty="0">
                <a:solidFill>
                  <a:srgbClr val="5B6478"/>
                </a:solidFill>
                <a:latin typeface="Calibri" pitchFamily="34" charset="0"/>
                <a:ea typeface="Calibri" pitchFamily="34" charset="-122"/>
                <a:cs typeface="Calibri" pitchFamily="34" charset="-120"/>
              </a:rPr>
              <a:t>Each functional need maps to one route and one OAuth2 scope</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743200"/>
                <a:gridCol w="3017520"/>
                <a:gridCol w="2103120"/>
                <a:gridCol w="320040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Requirement</a:t>
                      </a:r>
                      <a:endParaRPr lang="en-US" sz="1400" dirty="0">
                        <a:latin typeface="Calibri" charset="0"/>
                        <a:ea typeface="Calibri" charset="0"/>
                        <a:cs typeface="Calibri"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0A1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Route</a:t>
                      </a:r>
                      <a:endParaRPr lang="en-US" sz="1400" dirty="0">
                        <a:latin typeface="Calibri" charset="0"/>
                        <a:ea typeface="Calibri" charset="0"/>
                        <a:cs typeface="Calibri"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0A1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Scope</a:t>
                      </a:r>
                      <a:endParaRPr lang="en-US" sz="1400" dirty="0">
                        <a:latin typeface="Calibri" charset="0"/>
                        <a:ea typeface="Calibri" charset="0"/>
                        <a:cs typeface="Calibri"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0A1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Data access</a:t>
                      </a:r>
                      <a:endParaRPr lang="en-US" sz="1400" dirty="0">
                        <a:latin typeface="Calibri" charset="0"/>
                        <a:ea typeface="Calibri" charset="0"/>
                        <a:cs typeface="Calibri"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0A1A44"/>
                    </a:solidFill>
                  </a:tcPr>
                </a:tc>
              </a:tr>
              <a:tr h="566928">
                <a:tc>
                  <a:txBody>
                    <a:bodyPr/>
                    <a:lstStyle/>
                    <a:p>
                      <a:pPr indent="0" marL="0">
                        <a:buNone/>
                      </a:pPr>
                      <a:r>
                        <a:rPr lang="en-US" sz="1300" dirty="0">
                          <a:solidFill>
                            <a:srgbClr val="1B2233"/>
                          </a:solidFill>
                          <a:latin typeface="Calibri" pitchFamily="34" charset="0"/>
                          <a:ea typeface="Calibri" pitchFamily="34" charset="-122"/>
                          <a:cs typeface="Calibri" pitchFamily="34" charset="-120"/>
                        </a:rPr>
                        <a:t>Post a candidate + resume</a:t>
                      </a:r>
                      <a:endParaRPr lang="en-US" sz="1300" dirty="0">
                        <a:latin typeface="Calibri" charset="0"/>
                        <a:ea typeface="Calibri" charset="0"/>
                        <a:cs typeface="Calibri"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latin typeface="Courier New" pitchFamily="34" charset="0"/>
                          <a:ea typeface="Courier New" pitchFamily="34" charset="-122"/>
                          <a:cs typeface="Courier New" pitchFamily="34" charset="-120"/>
                        </a:rPr>
                        <a:t>POST /candidates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latin typeface="Courier New" pitchFamily="34" charset="0"/>
                          <a:ea typeface="Courier New" pitchFamily="34" charset="-122"/>
                          <a:cs typeface="Courier New" pitchFamily="34" charset="-120"/>
                        </a:rPr>
                        <a:t>candidates.write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latin typeface="Calibri" pitchFamily="34" charset="0"/>
                          <a:ea typeface="Calibri" pitchFamily="34" charset="-122"/>
                          <a:cs typeface="Calibri" pitchFamily="34" charset="-120"/>
                        </a:rPr>
                        <a:t>Sequence + PutItem, PutObject (SSE-S3)</a:t>
                      </a:r>
                      <a:endParaRPr lang="en-US" sz="1300" dirty="0">
                        <a:latin typeface="Calibri" charset="0"/>
                        <a:ea typeface="Calibri" charset="0"/>
                        <a:cs typeface="Calibri"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2233"/>
                          </a:solidFill>
                          <a:latin typeface="Calibri" pitchFamily="34" charset="0"/>
                          <a:ea typeface="Calibri" pitchFamily="34" charset="-122"/>
                          <a:cs typeface="Calibri" pitchFamily="34" charset="-120"/>
                        </a:rPr>
                        <a:t>Get a candidate + download CV</a:t>
                      </a:r>
                      <a:endParaRPr lang="en-US" sz="1300" dirty="0">
                        <a:latin typeface="Calibri" charset="0"/>
                        <a:ea typeface="Calibri" charset="0"/>
                        <a:cs typeface="Calibri"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latin typeface="Courier New" pitchFamily="34" charset="0"/>
                          <a:ea typeface="Courier New" pitchFamily="34" charset="-122"/>
                          <a:cs typeface="Courier New" pitchFamily="34" charset="-120"/>
                        </a:rPr>
                        <a:t>GET /candidates/{id}</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latin typeface="Courier New" pitchFamily="34" charset="0"/>
                          <a:ea typeface="Courier New" pitchFamily="34" charset="-122"/>
                          <a:cs typeface="Courier New" pitchFamily="34" charset="-120"/>
                        </a:rPr>
                        <a:t>candidates.read</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latin typeface="Calibri" pitchFamily="34" charset="0"/>
                          <a:ea typeface="Calibri" pitchFamily="34" charset="-122"/>
                          <a:cs typeface="Calibri" pitchFamily="34" charset="-120"/>
                        </a:rPr>
                        <a:t>GetItem + presigned GET URL (5 min)</a:t>
                      </a:r>
                      <a:endParaRPr lang="en-US" sz="1300" dirty="0">
                        <a:latin typeface="Calibri" charset="0"/>
                        <a:ea typeface="Calibri" charset="0"/>
                        <a:cs typeface="Calibri"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2233"/>
                          </a:solidFill>
                          <a:latin typeface="Calibri" pitchFamily="34" charset="0"/>
                          <a:ea typeface="Calibri" pitchFamily="34" charset="-122"/>
                          <a:cs typeface="Calibri" pitchFamily="34" charset="-120"/>
                        </a:rPr>
                        <a:t>List by specialty (optional)</a:t>
                      </a:r>
                      <a:endParaRPr lang="en-US" sz="1300" dirty="0">
                        <a:latin typeface="Calibri" charset="0"/>
                        <a:ea typeface="Calibri" charset="0"/>
                        <a:cs typeface="Calibri"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latin typeface="Courier New" pitchFamily="34" charset="0"/>
                          <a:ea typeface="Courier New" pitchFamily="34" charset="-122"/>
                          <a:cs typeface="Courier New" pitchFamily="34" charset="-120"/>
                        </a:rPr>
                        <a:t>GET /candidates?specialty=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latin typeface="Courier New" pitchFamily="34" charset="0"/>
                          <a:ea typeface="Courier New" pitchFamily="34" charset="-122"/>
                          <a:cs typeface="Courier New" pitchFamily="34" charset="-120"/>
                        </a:rPr>
                        <a:t>candidates.read</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latin typeface="Calibri" pitchFamily="34" charset="0"/>
                          <a:ea typeface="Calibri" pitchFamily="34" charset="-122"/>
                          <a:cs typeface="Calibri" pitchFamily="34" charset="-120"/>
                        </a:rPr>
                        <a:t>Query on GSI, paginated</a:t>
                      </a:r>
                      <a:endParaRPr lang="en-US" sz="1300" dirty="0">
                        <a:latin typeface="Calibri" charset="0"/>
                        <a:ea typeface="Calibri" charset="0"/>
                        <a:cs typeface="Calibri" charset="0"/>
                      </a:endParaRPr>
                    </a:p>
                  </a:txBody>
                  <a:tcPr marL="91440" marR="91440" marT="45720" marB="45720"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343400"/>
            <a:ext cx="5349240" cy="1371600"/>
          </a:xfrm>
          <a:prstGeom prst="roundRect">
            <a:avLst>
              <a:gd name="adj" fmla="val 5333"/>
            </a:avLst>
          </a:prstGeom>
          <a:solidFill>
            <a:srgbClr val="EAF1FC"/>
          </a:solidFill>
          <a:ln w="12700">
            <a:solidFill>
              <a:srgbClr val="EAF1FC"/>
            </a:solidFill>
            <a:prstDash val="solid"/>
          </a:ln>
        </p:spPr>
        <p:txBody>
          <a:bodyPr/>
          <a:p/>
        </p:txBody>
      </p:sp>
      <p:pic>
        <p:nvPicPr>
          <p:cNvPr id="7" name="Image 0" descr="preencoded.png">    </p:cNvPr>
          <p:cNvPicPr>
            <a:picLocks noChangeAspect="1"/>
          </p:cNvPicPr>
          <p:nvPr/>
        </p:nvPicPr>
        <p:blipFill>
          <a:blip r:embed="rId1"/>
          <a:stretch>
            <a:fillRect/>
          </a:stretch>
        </p:blipFill>
        <p:spPr>
          <a:xfrm>
            <a:off x="777240" y="4553712"/>
            <a:ext cx="365760" cy="365760"/>
          </a:xfrm>
          <a:prstGeom prst="rect">
            <a:avLst/>
          </a:prstGeom>
        </p:spPr>
      </p:pic>
      <p:sp>
        <p:nvSpPr>
          <p:cNvPr id="8" name="Text 4"/>
          <p:cNvSpPr txBox="1"/>
          <p:nvPr/>
        </p:nvSpPr>
        <p:spPr>
          <a:xfrm>
            <a:off x="1280160" y="4526280"/>
            <a:ext cx="4480560" cy="411480"/>
          </a:xfrm>
          <a:prstGeom prst="rect">
            <a:avLst/>
          </a:prstGeom>
          <a:noFill/>
          <a:ln/>
        </p:spPr>
        <p:txBody>
          <a:bodyPr wrap="square" lIns="0" tIns="0" rIns="0" bIns="0" rtlCol="0" anchor="ctr"/>
          <a:lstStyle/>
          <a:p>
            <a:pPr indent="0" marL="0">
              <a:buNone/>
            </a:pPr>
            <a:r>
              <a:rPr lang="en-US" sz="1700" b="1" dirty="0">
                <a:solidFill>
                  <a:srgbClr val="0A1A44"/>
                </a:solidFill>
                <a:latin typeface="Calibri" pitchFamily="34" charset="0"/>
                <a:ea typeface="Calibri" pitchFamily="34" charset="-122"/>
                <a:cs typeface="Calibri" pitchFamily="34" charset="-120"/>
              </a:rPr>
              <a:t>"SAS URL" is Azure vocabulary</a:t>
            </a:r>
            <a:endParaRPr lang="en-US" sz="1700" dirty="0"/>
          </a:p>
        </p:txBody>
      </p:sp>
      <p:sp>
        <p:nvSpPr>
          <p:cNvPr id="9" name="Text 5"/>
          <p:cNvSpPr txBox="1"/>
          <p:nvPr/>
        </p:nvSpPr>
        <p:spPr>
          <a:xfrm>
            <a:off x="777240" y="4983480"/>
            <a:ext cx="4937760" cy="914400"/>
          </a:xfrm>
          <a:prstGeom prst="rect">
            <a:avLst/>
          </a:prstGeom>
          <a:noFill/>
          <a:ln/>
        </p:spPr>
        <p:txBody>
          <a:bodyPr wrap="square" lIns="0" tIns="0" rIns="0" bIns="0" rtlCol="0" anchor="t"/>
          <a:lstStyle/>
          <a:p>
            <a:pPr indent="0" marL="0">
              <a:buNone/>
            </a:pPr>
            <a:r>
              <a:rPr lang="en-US" sz="1400" dirty="0">
                <a:solidFill>
                  <a:srgbClr val="1B2233"/>
                </a:solidFill>
                <a:latin typeface="Calibri" pitchFamily="34" charset="0"/>
                <a:ea typeface="Calibri" pitchFamily="34" charset="-122"/>
                <a:cs typeface="Calibri" pitchFamily="34" charset="-120"/>
              </a:rPr>
              <a:t>On AWS this is an S3 presigned URL: SigV4 signed, one object, expires after 300 s, served as an attachment.</a:t>
            </a:r>
            <a:endParaRPr lang="en-US" sz="1400" dirty="0"/>
          </a:p>
        </p:txBody>
      </p:sp>
      <p:sp>
        <p:nvSpPr>
          <p:cNvPr id="10" name="Shape 6"/>
          <p:cNvSpPr/>
          <p:nvPr/>
        </p:nvSpPr>
        <p:spPr>
          <a:xfrm>
            <a:off x="6263640" y="4343400"/>
            <a:ext cx="5349240" cy="1371600"/>
          </a:xfrm>
          <a:prstGeom prst="roundRect">
            <a:avLst>
              <a:gd name="adj" fmla="val 5333"/>
            </a:avLst>
          </a:prstGeom>
          <a:solidFill>
            <a:srgbClr val="EAF1FC"/>
          </a:solidFill>
          <a:ln w="12700">
            <a:solidFill>
              <a:srgbClr val="EAF1FC"/>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6492240" y="4553712"/>
            <a:ext cx="365760" cy="365760"/>
          </a:xfrm>
          <a:prstGeom prst="rect">
            <a:avLst/>
          </a:prstGeom>
        </p:spPr>
      </p:pic>
      <p:sp>
        <p:nvSpPr>
          <p:cNvPr id="12" name="Text 7"/>
          <p:cNvSpPr txBox="1"/>
          <p:nvPr/>
        </p:nvSpPr>
        <p:spPr>
          <a:xfrm>
            <a:off x="6995160" y="4526280"/>
            <a:ext cx="4480560" cy="411480"/>
          </a:xfrm>
          <a:prstGeom prst="rect">
            <a:avLst/>
          </a:prstGeom>
          <a:noFill/>
          <a:ln/>
        </p:spPr>
        <p:txBody>
          <a:bodyPr wrap="square" lIns="0" tIns="0" rIns="0" bIns="0" rtlCol="0" anchor="ctr"/>
          <a:lstStyle/>
          <a:p>
            <a:pPr indent="0" marL="0">
              <a:buNone/>
            </a:pPr>
            <a:r>
              <a:rPr lang="en-US" sz="1700" b="1" dirty="0">
                <a:solidFill>
                  <a:srgbClr val="0A1A44"/>
                </a:solidFill>
                <a:latin typeface="Calibri" pitchFamily="34" charset="0"/>
                <a:ea typeface="Calibri" pitchFamily="34" charset="-122"/>
                <a:cs typeface="Calibri" pitchFamily="34" charset="-120"/>
              </a:rPr>
              <a:t>Data structure kept as specified</a:t>
            </a:r>
            <a:endParaRPr lang="en-US" sz="1700" dirty="0"/>
          </a:p>
        </p:txBody>
      </p:sp>
      <p:sp>
        <p:nvSpPr>
          <p:cNvPr id="13" name="Text 8"/>
          <p:cNvSpPr txBox="1"/>
          <p:nvPr/>
        </p:nvSpPr>
        <p:spPr>
          <a:xfrm>
            <a:off x="6492240" y="4983480"/>
            <a:ext cx="4937760" cy="914400"/>
          </a:xfrm>
          <a:prstGeom prst="rect">
            <a:avLst/>
          </a:prstGeom>
          <a:noFill/>
          <a:ln/>
        </p:spPr>
        <p:txBody>
          <a:bodyPr wrap="square" lIns="0" tIns="0" rIns="0" bIns="0" rtlCol="0" anchor="t"/>
          <a:lstStyle/>
          <a:p>
            <a:pPr indent="0" marL="0">
              <a:buNone/>
            </a:pPr>
            <a:r>
              <a:rPr lang="en-US" sz="1400" dirty="0">
                <a:solidFill>
                  <a:srgbClr val="1B2233"/>
                </a:solidFill>
                <a:latin typeface="Calibri" pitchFamily="34" charset="0"/>
                <a:ea typeface="Calibri" pitchFamily="34" charset="-122"/>
                <a:cs typeface="Calibri" pitchFamily="34" charset="-120"/>
              </a:rPr>
              <a:t>IDs CA-000001..., attribute names and S3 keys {specialty}/{candidateId}.{ext} match the exercise.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indent="0" marL="0">
              <a:buNone/>
            </a:pPr>
            <a:r>
              <a:rPr lang="en-US" sz="3200" b="1" dirty="0">
                <a:solidFill>
                  <a:srgbClr val="0A1A44"/>
                </a:solidFill>
                <a:latin typeface="Calibri" pitchFamily="34" charset="0"/>
                <a:ea typeface="Calibri" pitchFamily="34" charset="-122"/>
                <a:cs typeface="Calibri" pitchFamily="34" charset="-120"/>
              </a:rPr>
              <a:t>Architecture</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indent="0" marL="0">
              <a:buNone/>
            </a:pPr>
            <a:r>
              <a:rPr lang="en-US" sz="1500" dirty="0">
                <a:solidFill>
                  <a:srgbClr val="5B6478"/>
                </a:solidFill>
                <a:latin typeface="Calibri" pitchFamily="34" charset="0"/>
                <a:ea typeface="Calibri" pitchFamily="34" charset="-122"/>
                <a:cs typeface="Calibri" pitchFamily="34" charset="-120"/>
              </a:rPr>
              <a:t>The five requested services, serverless and regional</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457200" y="1600200"/>
            <a:ext cx="1828800" cy="914400"/>
          </a:xfrm>
          <a:prstGeom prst="roundRect">
            <a:avLst>
              <a:gd name="adj" fmla="val 8000"/>
            </a:avLst>
          </a:prstGeom>
          <a:solidFill>
            <a:srgbClr val="EAF1FC"/>
          </a:solidFill>
          <a:ln w="12700">
            <a:solidFill>
              <a:srgbClr val="C9D6EE"/>
            </a:solidFill>
            <a:prstDash val="solid"/>
          </a:ln>
        </p:spPr>
        <p:txBody>
          <a:bodyPr/>
          <a:p/>
        </p:txBody>
      </p:sp>
      <p:pic>
        <p:nvPicPr>
          <p:cNvPr id="6" name="Image 0" descr="preencoded.png">    </p:cNvPr>
          <p:cNvPicPr>
            <a:picLocks noChangeAspect="1"/>
          </p:cNvPicPr>
          <p:nvPr/>
        </p:nvPicPr>
        <p:blipFill>
          <a:blip r:embed="rId1"/>
          <a:stretch>
            <a:fillRect/>
          </a:stretch>
        </p:blipFill>
        <p:spPr>
          <a:xfrm>
            <a:off x="594360" y="1851660"/>
            <a:ext cx="411480" cy="411480"/>
          </a:xfrm>
          <a:prstGeom prst="rect">
            <a:avLst/>
          </a:prstGeom>
        </p:spPr>
      </p:pic>
      <p:sp>
        <p:nvSpPr>
          <p:cNvPr id="7" name="Text 4"/>
          <p:cNvSpPr txBox="1"/>
          <p:nvPr/>
        </p:nvSpPr>
        <p:spPr>
          <a:xfrm>
            <a:off x="1078992" y="1600200"/>
            <a:ext cx="1143000" cy="914400"/>
          </a:xfrm>
          <a:prstGeom prst="rect">
            <a:avLst/>
          </a:prstGeom>
          <a:noFill/>
          <a:ln/>
        </p:spPr>
        <p:txBody>
          <a:bodyPr wrap="square" lIns="0" tIns="0" rIns="0" bIns="0" rtlCol="0" anchor="ctr"/>
          <a:lstStyle/>
          <a:p>
            <a:pPr indent="0" marL="0">
              <a:buNone/>
            </a:pPr>
            <a:r>
              <a:rPr lang="en-US" sz="1400" b="1" dirty="0">
                <a:solidFill>
                  <a:srgbClr val="0A1A44"/>
                </a:solidFill>
                <a:latin typeface="Calibri" pitchFamily="34" charset="0"/>
                <a:ea typeface="Calibri" pitchFamily="34" charset="-122"/>
                <a:cs typeface="Calibri" pitchFamily="34" charset="-120"/>
              </a:rPr>
              <a:t>Cognito</a:t>
            </a:r>
            <a:endParaRPr lang="en-US" sz="1400" dirty="0"/>
          </a:p>
          <a:p>
            <a:pPr indent="0" marL="0">
              <a:buNone/>
            </a:pPr>
            <a:r>
              <a:rPr lang="en-US" sz="1100" dirty="0">
                <a:solidFill>
                  <a:srgbClr val="5B6478"/>
                </a:solidFill>
                <a:latin typeface="Calibri" pitchFamily="34" charset="0"/>
                <a:ea typeface="Calibri" pitchFamily="34" charset="-122"/>
                <a:cs typeface="Calibri" pitchFamily="34" charset="-120"/>
              </a:rPr>
              <a:t>token endpoint</a:t>
            </a:r>
            <a:endParaRPr lang="en-US" sz="1400" dirty="0"/>
          </a:p>
        </p:txBody>
      </p:sp>
      <p:sp>
        <p:nvSpPr>
          <p:cNvPr id="8" name="Shape 5"/>
          <p:cNvSpPr/>
          <p:nvPr/>
        </p:nvSpPr>
        <p:spPr>
          <a:xfrm>
            <a:off x="457200" y="3337560"/>
            <a:ext cx="1828800" cy="914400"/>
          </a:xfrm>
          <a:prstGeom prst="roundRect">
            <a:avLst>
              <a:gd name="adj" fmla="val 8000"/>
            </a:avLst>
          </a:prstGeom>
          <a:solidFill>
            <a:srgbClr val="EAF1FC"/>
          </a:solidFill>
          <a:ln w="12700">
            <a:solidFill>
              <a:srgbClr val="C9D6EE"/>
            </a:solidFill>
            <a:prstDash val="solid"/>
          </a:ln>
        </p:spPr>
        <p:txBody>
          <a:bodyPr/>
          <a:p/>
        </p:txBody>
      </p:sp>
      <p:pic>
        <p:nvPicPr>
          <p:cNvPr id="9" name="Image 1" descr="preencoded.png">    </p:cNvPr>
          <p:cNvPicPr>
            <a:picLocks noChangeAspect="1"/>
          </p:cNvPicPr>
          <p:nvPr/>
        </p:nvPicPr>
        <p:blipFill>
          <a:blip r:embed="rId2"/>
          <a:stretch>
            <a:fillRect/>
          </a:stretch>
        </p:blipFill>
        <p:spPr>
          <a:xfrm>
            <a:off x="594360" y="3589020"/>
            <a:ext cx="411480" cy="411480"/>
          </a:xfrm>
          <a:prstGeom prst="rect">
            <a:avLst/>
          </a:prstGeom>
        </p:spPr>
      </p:pic>
      <p:sp>
        <p:nvSpPr>
          <p:cNvPr id="10" name="Text 6"/>
          <p:cNvSpPr txBox="1"/>
          <p:nvPr/>
        </p:nvSpPr>
        <p:spPr>
          <a:xfrm>
            <a:off x="1078992" y="3337560"/>
            <a:ext cx="1143000" cy="914400"/>
          </a:xfrm>
          <a:prstGeom prst="rect">
            <a:avLst/>
          </a:prstGeom>
          <a:noFill/>
          <a:ln/>
        </p:spPr>
        <p:txBody>
          <a:bodyPr wrap="square" lIns="0" tIns="0" rIns="0" bIns="0" rtlCol="0" anchor="ctr"/>
          <a:lstStyle/>
          <a:p>
            <a:pPr indent="0" marL="0">
              <a:buNone/>
            </a:pPr>
            <a:r>
              <a:rPr lang="en-US" sz="1400" b="1" dirty="0">
                <a:solidFill>
                  <a:srgbClr val="0A1A44"/>
                </a:solidFill>
                <a:latin typeface="Calibri" pitchFamily="34" charset="0"/>
                <a:ea typeface="Calibri" pitchFamily="34" charset="-122"/>
                <a:cs typeface="Calibri" pitchFamily="34" charset="-120"/>
              </a:rPr>
              <a:t>Client app</a:t>
            </a:r>
            <a:endParaRPr lang="en-US" sz="1400" dirty="0"/>
          </a:p>
          <a:p>
            <a:pPr indent="0" marL="0">
              <a:buNone/>
            </a:pPr>
            <a:r>
              <a:rPr lang="en-US" sz="1100" dirty="0">
                <a:solidFill>
                  <a:srgbClr val="5B6478"/>
                </a:solidFill>
                <a:latin typeface="Calibri" pitchFamily="34" charset="0"/>
                <a:ea typeface="Calibri" pitchFamily="34" charset="-122"/>
                <a:cs typeface="Calibri" pitchFamily="34" charset="-120"/>
              </a:rPr>
              <a:t>machine to machine</a:t>
            </a:r>
            <a:endParaRPr lang="en-US" sz="1400" dirty="0"/>
          </a:p>
        </p:txBody>
      </p:sp>
      <p:sp>
        <p:nvSpPr>
          <p:cNvPr id="14" name="Shape 9"/>
          <p:cNvSpPr/>
          <p:nvPr/>
        </p:nvSpPr>
        <p:spPr>
          <a:xfrm>
            <a:off x="4800600" y="3337560"/>
            <a:ext cx="1828800" cy="914400"/>
          </a:xfrm>
          <a:prstGeom prst="roundRect">
            <a:avLst>
              <a:gd name="adj" fmla="val 8000"/>
            </a:avLst>
          </a:prstGeom>
          <a:solidFill>
            <a:srgbClr val="EAF1FC"/>
          </a:solidFill>
          <a:ln w="12700">
            <a:solidFill>
              <a:srgbClr val="C9D6EE"/>
            </a:solidFill>
            <a:prstDash val="solid"/>
          </a:ln>
        </p:spPr>
        <p:txBody>
          <a:bodyPr/>
          <a:p/>
        </p:txBody>
      </p:sp>
      <p:pic>
        <p:nvPicPr>
          <p:cNvPr id="15" name="Image 3" descr="preencoded.png">    </p:cNvPr>
          <p:cNvPicPr>
            <a:picLocks noChangeAspect="1"/>
          </p:cNvPicPr>
          <p:nvPr/>
        </p:nvPicPr>
        <p:blipFill>
          <a:blip r:embed="rId4"/>
          <a:stretch>
            <a:fillRect/>
          </a:stretch>
        </p:blipFill>
        <p:spPr>
          <a:xfrm>
            <a:off x="4937760" y="3589020"/>
            <a:ext cx="411480" cy="411480"/>
          </a:xfrm>
          <a:prstGeom prst="rect">
            <a:avLst/>
          </a:prstGeom>
        </p:spPr>
      </p:pic>
      <p:sp>
        <p:nvSpPr>
          <p:cNvPr id="16" name="Text 10"/>
          <p:cNvSpPr txBox="1"/>
          <p:nvPr/>
        </p:nvSpPr>
        <p:spPr>
          <a:xfrm>
            <a:off x="5422392" y="3337560"/>
            <a:ext cx="1143000" cy="914400"/>
          </a:xfrm>
          <a:prstGeom prst="rect">
            <a:avLst/>
          </a:prstGeom>
          <a:noFill/>
          <a:ln/>
        </p:spPr>
        <p:txBody>
          <a:bodyPr wrap="square" lIns="0" tIns="0" rIns="0" bIns="0" rtlCol="0" anchor="ctr"/>
          <a:lstStyle/>
          <a:p>
            <a:pPr indent="0" marL="0">
              <a:buNone/>
            </a:pPr>
            <a:r>
              <a:rPr lang="en-US" sz="1400" b="1" dirty="0">
                <a:solidFill>
                  <a:srgbClr val="0A1A44"/>
                </a:solidFill>
                <a:latin typeface="Calibri" pitchFamily="34" charset="0"/>
                <a:ea typeface="Calibri" pitchFamily="34" charset="-122"/>
                <a:cs typeface="Calibri" pitchFamily="34" charset="-120"/>
              </a:rPr>
              <a:t>API Gateway</a:t>
            </a:r>
            <a:endParaRPr lang="en-US" sz="1400" dirty="0"/>
          </a:p>
          <a:p>
            <a:pPr indent="0" marL="0">
              <a:buNone/>
            </a:pPr>
            <a:r>
              <a:rPr lang="en-US" sz="1100" dirty="0">
                <a:solidFill>
                  <a:srgbClr val="5B6478"/>
                </a:solidFill>
                <a:latin typeface="Calibri" pitchFamily="34" charset="0"/>
                <a:ea typeface="Calibri" pitchFamily="34" charset="-122"/>
                <a:cs typeface="Calibri" pitchFamily="34" charset="-120"/>
              </a:rPr>
              <a:t>Cognito authorizer</a:t>
            </a:r>
            <a:endParaRPr lang="en-US" sz="1400" dirty="0"/>
          </a:p>
        </p:txBody>
      </p:sp>
      <p:sp>
        <p:nvSpPr>
          <p:cNvPr id="20" name="Shape 13"/>
          <p:cNvSpPr/>
          <p:nvPr/>
        </p:nvSpPr>
        <p:spPr>
          <a:xfrm>
            <a:off x="7315200" y="3337560"/>
            <a:ext cx="2011680" cy="914400"/>
          </a:xfrm>
          <a:prstGeom prst="roundRect">
            <a:avLst>
              <a:gd name="adj" fmla="val 8889"/>
            </a:avLst>
          </a:prstGeom>
          <a:solidFill>
            <a:srgbClr val="EAF1FC"/>
          </a:solidFill>
          <a:ln w="12700">
            <a:solidFill>
              <a:srgbClr val="C9D6EE"/>
            </a:solidFill>
            <a:prstDash val="solid"/>
          </a:ln>
        </p:spPr>
        <p:txBody>
          <a:bodyPr/>
          <a:p/>
        </p:txBody>
      </p:sp>
      <p:pic>
        <p:nvPicPr>
          <p:cNvPr id="21" name="Image 5" descr="preencoded.png">    </p:cNvPr>
          <p:cNvPicPr>
            <a:picLocks noChangeAspect="1"/>
          </p:cNvPicPr>
          <p:nvPr/>
        </p:nvPicPr>
        <p:blipFill>
          <a:blip r:embed="rId6"/>
          <a:stretch>
            <a:fillRect/>
          </a:stretch>
        </p:blipFill>
        <p:spPr>
          <a:xfrm>
            <a:off x="7452360" y="3584448"/>
            <a:ext cx="411480" cy="411480"/>
          </a:xfrm>
          <a:prstGeom prst="rect">
            <a:avLst/>
          </a:prstGeom>
        </p:spPr>
      </p:pic>
      <p:sp>
        <p:nvSpPr>
          <p:cNvPr id="22" name="Text 14"/>
          <p:cNvSpPr txBox="1"/>
          <p:nvPr/>
        </p:nvSpPr>
        <p:spPr>
          <a:xfrm>
            <a:off x="7936992" y="3337560"/>
            <a:ext cx="1325880" cy="914400"/>
          </a:xfrm>
          <a:prstGeom prst="rect">
            <a:avLst/>
          </a:prstGeom>
          <a:noFill/>
          <a:ln/>
        </p:spPr>
        <p:txBody>
          <a:bodyPr wrap="square" lIns="0" tIns="0" rIns="0" bIns="0" rtlCol="0" anchor="ctr"/>
          <a:lstStyle/>
          <a:p>
            <a:pPr indent="0" marL="0">
              <a:buNone/>
            </a:pPr>
            <a:r>
              <a:rPr lang="en-US" sz="1400" b="1" dirty="0">
                <a:solidFill>
                  <a:srgbClr val="0A1A44"/>
                </a:solidFill>
                <a:latin typeface="Calibri" pitchFamily="34" charset="0"/>
                <a:ea typeface="Calibri" pitchFamily="34" charset="-122"/>
                <a:cs typeface="Calibri" pitchFamily="34" charset="-120"/>
              </a:rPr>
              <a:t>candidate-api</a:t>
            </a:r>
            <a:endParaRPr lang="en-US" sz="1400" dirty="0"/>
          </a:p>
          <a:p>
            <a:pPr indent="0" marL="0">
              <a:buNone/>
            </a:pPr>
            <a:r>
              <a:rPr lang="en-US" sz="1100" dirty="0">
                <a:solidFill>
                  <a:srgbClr val="5B6478"/>
                </a:solidFill>
                <a:latin typeface="Calibri" pitchFamily="34" charset="0"/>
                <a:ea typeface="Calibri" pitchFamily="34" charset="-122"/>
                <a:cs typeface="Calibri" pitchFamily="34" charset="-120"/>
              </a:rPr>
              <a:t>3 routes, 1 IAM role</a:t>
            </a:r>
            <a:endParaRPr lang="en-US" sz="1400" dirty="0"/>
          </a:p>
        </p:txBody>
      </p:sp>
      <p:sp>
        <p:nvSpPr>
          <p:cNvPr id="26" name="Shape 17"/>
          <p:cNvSpPr/>
          <p:nvPr/>
        </p:nvSpPr>
        <p:spPr>
          <a:xfrm>
            <a:off x="10012680" y="2331720"/>
            <a:ext cx="1783080" cy="1005840"/>
          </a:xfrm>
          <a:prstGeom prst="roundRect">
            <a:avLst>
              <a:gd name="adj" fmla="val 7273"/>
            </a:avLst>
          </a:prstGeom>
          <a:solidFill>
            <a:srgbClr val="EAF1FC"/>
          </a:solidFill>
          <a:ln w="12700">
            <a:solidFill>
              <a:srgbClr val="C9D6EE"/>
            </a:solidFill>
            <a:prstDash val="solid"/>
          </a:ln>
        </p:spPr>
        <p:txBody>
          <a:bodyPr/>
          <a:p/>
        </p:txBody>
      </p:sp>
      <p:pic>
        <p:nvPicPr>
          <p:cNvPr id="27" name="Image 7" descr="preencoded.png">    </p:cNvPr>
          <p:cNvPicPr>
            <a:picLocks noChangeAspect="1"/>
          </p:cNvPicPr>
          <p:nvPr/>
        </p:nvPicPr>
        <p:blipFill>
          <a:blip r:embed="rId8"/>
          <a:stretch>
            <a:fillRect/>
          </a:stretch>
        </p:blipFill>
        <p:spPr>
          <a:xfrm>
            <a:off x="10149840" y="2628900"/>
            <a:ext cx="411480" cy="411480"/>
          </a:xfrm>
          <a:prstGeom prst="rect">
            <a:avLst/>
          </a:prstGeom>
        </p:spPr>
      </p:pic>
      <p:sp>
        <p:nvSpPr>
          <p:cNvPr id="28" name="Text 18"/>
          <p:cNvSpPr txBox="1"/>
          <p:nvPr/>
        </p:nvSpPr>
        <p:spPr>
          <a:xfrm>
            <a:off x="10634472" y="2331720"/>
            <a:ext cx="1097280" cy="1005840"/>
          </a:xfrm>
          <a:prstGeom prst="rect">
            <a:avLst/>
          </a:prstGeom>
          <a:noFill/>
          <a:ln/>
        </p:spPr>
        <p:txBody>
          <a:bodyPr wrap="square" lIns="0" tIns="0" rIns="0" bIns="0" rtlCol="0" anchor="ctr"/>
          <a:lstStyle/>
          <a:p>
            <a:pPr indent="0" marL="0">
              <a:buNone/>
            </a:pPr>
            <a:r>
              <a:rPr lang="en-US" sz="1400" b="1" dirty="0">
                <a:solidFill>
                  <a:srgbClr val="0A1A44"/>
                </a:solidFill>
                <a:latin typeface="Calibri" pitchFamily="34" charset="0"/>
                <a:ea typeface="Calibri" pitchFamily="34" charset="-122"/>
                <a:cs typeface="Calibri" pitchFamily="34" charset="-120"/>
              </a:rPr>
              <a:t>DynamoDB</a:t>
            </a:r>
            <a:endParaRPr lang="en-US" sz="1400" dirty="0"/>
          </a:p>
          <a:p>
            <a:pPr indent="0" marL="0">
              <a:buNone/>
            </a:pPr>
            <a:r>
              <a:rPr lang="en-US" sz="1100" dirty="0">
                <a:solidFill>
                  <a:srgbClr val="5B6478"/>
                </a:solidFill>
                <a:latin typeface="Calibri" pitchFamily="34" charset="0"/>
                <a:ea typeface="Calibri" pitchFamily="34" charset="-122"/>
                <a:cs typeface="Calibri" pitchFamily="34" charset="-120"/>
              </a:rPr>
              <a:t>table + GSI</a:t>
            </a:r>
            <a:endParaRPr lang="en-US" sz="1400" dirty="0"/>
          </a:p>
        </p:txBody>
      </p:sp>
      <p:sp>
        <p:nvSpPr>
          <p:cNvPr id="29" name="Shape 19"/>
          <p:cNvSpPr/>
          <p:nvPr/>
        </p:nvSpPr>
        <p:spPr>
          <a:xfrm>
            <a:off x="10012680" y="4251960"/>
            <a:ext cx="1783080" cy="1005840"/>
          </a:xfrm>
          <a:prstGeom prst="roundRect">
            <a:avLst>
              <a:gd name="adj" fmla="val 7273"/>
            </a:avLst>
          </a:prstGeom>
          <a:solidFill>
            <a:srgbClr val="EAF1FC"/>
          </a:solidFill>
          <a:ln w="12700">
            <a:solidFill>
              <a:srgbClr val="C9D6EE"/>
            </a:solidFill>
            <a:prstDash val="solid"/>
          </a:ln>
        </p:spPr>
        <p:txBody>
          <a:bodyPr/>
          <a:p/>
        </p:txBody>
      </p:sp>
      <p:pic>
        <p:nvPicPr>
          <p:cNvPr id="30" name="Image 8" descr="preencoded.png">    </p:cNvPr>
          <p:cNvPicPr>
            <a:picLocks noChangeAspect="1"/>
          </p:cNvPicPr>
          <p:nvPr/>
        </p:nvPicPr>
        <p:blipFill>
          <a:blip r:embed="rId9"/>
          <a:stretch>
            <a:fillRect/>
          </a:stretch>
        </p:blipFill>
        <p:spPr>
          <a:xfrm>
            <a:off x="10149840" y="4549140"/>
            <a:ext cx="411480" cy="411480"/>
          </a:xfrm>
          <a:prstGeom prst="rect">
            <a:avLst/>
          </a:prstGeom>
        </p:spPr>
      </p:pic>
      <p:sp>
        <p:nvSpPr>
          <p:cNvPr id="31" name="Text 20"/>
          <p:cNvSpPr txBox="1"/>
          <p:nvPr/>
        </p:nvSpPr>
        <p:spPr>
          <a:xfrm>
            <a:off x="10634472" y="4251960"/>
            <a:ext cx="1097280" cy="1005840"/>
          </a:xfrm>
          <a:prstGeom prst="rect">
            <a:avLst/>
          </a:prstGeom>
          <a:noFill/>
          <a:ln/>
        </p:spPr>
        <p:txBody>
          <a:bodyPr wrap="square" lIns="0" tIns="0" rIns="0" bIns="0" rtlCol="0" anchor="ctr"/>
          <a:lstStyle/>
          <a:p>
            <a:pPr indent="0" marL="0">
              <a:buNone/>
            </a:pPr>
            <a:r>
              <a:rPr lang="en-US" sz="1400" b="1" dirty="0">
                <a:solidFill>
                  <a:srgbClr val="0A1A44"/>
                </a:solidFill>
                <a:latin typeface="Calibri" pitchFamily="34" charset="0"/>
                <a:ea typeface="Calibri" pitchFamily="34" charset="-122"/>
                <a:cs typeface="Calibri" pitchFamily="34" charset="-120"/>
              </a:rPr>
              <a:t>S3</a:t>
            </a:r>
            <a:endParaRPr lang="en-US" sz="1400" dirty="0"/>
          </a:p>
          <a:p>
            <a:pPr indent="0" marL="0">
              <a:buNone/>
            </a:pPr>
            <a:r>
              <a:rPr lang="en-US" sz="1100" dirty="0">
                <a:solidFill>
                  <a:srgbClr val="5B6478"/>
                </a:solidFill>
                <a:latin typeface="Calibri" pitchFamily="34" charset="0"/>
                <a:ea typeface="Calibri" pitchFamily="34" charset="-122"/>
                <a:cs typeface="Calibri" pitchFamily="34" charset="-120"/>
              </a:rPr>
              <a:t>resumes</a:t>
            </a:r>
            <a:endParaRPr lang="en-US" sz="1400" dirty="0"/>
          </a:p>
        </p:txBody>
      </p:sp>
      <p:sp>
        <p:nvSpPr>
          <p:cNvPr id="32" name="Shape 21"/>
          <p:cNvSpPr/>
          <p:nvPr/>
        </p:nvSpPr>
        <p:spPr>
          <a:xfrm flipV="1">
            <a:off x="1371600" y="2514600"/>
            <a:ext cx="0" cy="822960"/>
          </a:xfrm>
          <a:prstGeom prst="line">
            <a:avLst/>
          </a:prstGeom>
          <a:noFill/>
          <a:ln w="22225">
            <a:solidFill>
              <a:srgbClr val="0033A8"/>
            </a:solidFill>
            <a:prstDash val="solid"/>
            <a:headEnd type="triangle"/>
            <a:tailEnd type="triangle"/>
          </a:ln>
        </p:spPr>
        <p:txBody>
          <a:bodyPr/>
          <a:p/>
        </p:txBody>
      </p:sp>
      <p:sp>
        <p:nvSpPr>
          <p:cNvPr id="33" name="Text 22"/>
          <p:cNvSpPr txBox="1"/>
          <p:nvPr/>
        </p:nvSpPr>
        <p:spPr>
          <a:xfrm>
            <a:off x="1508760" y="2606040"/>
            <a:ext cx="2011680" cy="64008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1. client_id + secret</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 access token</a:t>
            </a:r>
            <a:endParaRPr lang="en-US" sz="1100" dirty="0"/>
          </a:p>
        </p:txBody>
      </p:sp>
      <p:sp>
        <p:nvSpPr>
          <p:cNvPr id="34" name="Shape 23"/>
          <p:cNvSpPr/>
          <p:nvPr/>
        </p:nvSpPr>
        <p:spPr>
          <a:xfrm>
            <a:off x="2286000" y="3794760"/>
            <a:ext cx="2514600" cy="0"/>
          </a:xfrm>
          <a:prstGeom prst="line">
            <a:avLst/>
          </a:prstGeom>
          <a:noFill/>
          <a:ln w="22225">
            <a:solidFill>
              <a:srgbClr val="0033A8"/>
            </a:solidFill>
            <a:prstDash val="solid"/>
            <a:tailEnd type="triangle"/>
          </a:ln>
        </p:spPr>
        <p:txBody>
          <a:bodyPr/>
          <a:p/>
        </p:txBody>
      </p:sp>
      <p:sp>
        <p:nvSpPr>
          <p:cNvPr id="36" name="Text 25"/>
          <p:cNvSpPr txBox="1"/>
          <p:nvPr/>
        </p:nvSpPr>
        <p:spPr>
          <a:xfrm>
            <a:off x="2514600" y="3429000"/>
            <a:ext cx="2103120" cy="27432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2. HTTPS + Bearer</a:t>
            </a:r>
            <a:endParaRPr lang="en-US" sz="1100" dirty="0"/>
          </a:p>
        </p:txBody>
      </p:sp>
      <p:sp>
        <p:nvSpPr>
          <p:cNvPr id="37" name="Text 26"/>
          <p:cNvSpPr txBox="1"/>
          <p:nvPr/>
        </p:nvSpPr>
        <p:spPr>
          <a:xfrm>
            <a:off x="4572000" y="4343400"/>
            <a:ext cx="2377440" cy="274320"/>
          </a:xfrm>
          <a:prstGeom prst="rect">
            <a:avLst/>
          </a:prstGeom>
          <a:noFill/>
          <a:ln/>
        </p:spPr>
        <p:txBody>
          <a:bodyPr wrap="square" lIns="0" tIns="0" rIns="0" bIns="0" rtlCol="0" anchor="ctr"/>
          <a:lstStyle/>
          <a:p>
            <a:pPr indent="0" marL="0">
              <a:buNone/>
            </a:pPr>
            <a:r>
              <a:rPr lang="en-US" sz="1100" dirty="0">
                <a:solidFill>
                  <a:srgbClr val="B3261E"/>
                </a:solidFill>
                <a:latin typeface="Calibri" pitchFamily="34" charset="0"/>
                <a:ea typeface="Calibri" pitchFamily="34" charset="-122"/>
                <a:cs typeface="Calibri" pitchFamily="34" charset="-120"/>
              </a:rPr>
              <a:t>2.b 401 if token or scope invalid</a:t>
            </a:r>
            <a:endParaRPr lang="en-US" sz="1100" dirty="0"/>
          </a:p>
        </p:txBody>
      </p:sp>
      <p:sp>
        <p:nvSpPr>
          <p:cNvPr id="38" name="Shape 27"/>
          <p:cNvSpPr/>
          <p:nvPr/>
        </p:nvSpPr>
        <p:spPr>
          <a:xfrm>
            <a:off x="6629400" y="3794760"/>
            <a:ext cx="320040" cy="0"/>
          </a:xfrm>
          <a:prstGeom prst="line">
            <a:avLst/>
          </a:prstGeom>
          <a:noFill/>
          <a:ln w="22225">
            <a:solidFill>
              <a:srgbClr val="0033A8"/>
            </a:solidFill>
            <a:prstDash val="solid"/>
          </a:ln>
        </p:spPr>
        <p:txBody>
          <a:bodyPr/>
          <a:p/>
        </p:txBody>
      </p:sp>
      <p:sp>
        <p:nvSpPr>
          <p:cNvPr id="41" name="Shape 30"/>
          <p:cNvSpPr/>
          <p:nvPr/>
        </p:nvSpPr>
        <p:spPr>
          <a:xfrm>
            <a:off x="6949440" y="3794760"/>
            <a:ext cx="365760" cy="0"/>
          </a:xfrm>
          <a:prstGeom prst="line">
            <a:avLst/>
          </a:prstGeom>
          <a:noFill/>
          <a:ln w="22225">
            <a:solidFill>
              <a:srgbClr val="0033A8"/>
            </a:solidFill>
            <a:prstDash val="solid"/>
            <a:tailEnd type="triangle"/>
          </a:ln>
        </p:spPr>
        <p:txBody>
          <a:bodyPr/>
          <a:p/>
        </p:txBody>
      </p:sp>
      <p:sp>
        <p:nvSpPr>
          <p:cNvPr id="43" name="Text 32"/>
          <p:cNvSpPr txBox="1"/>
          <p:nvPr/>
        </p:nvSpPr>
        <p:spPr>
          <a:xfrm>
            <a:off x="6812280" y="3456432"/>
            <a:ext cx="274320" cy="27432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3</a:t>
            </a:r>
            <a:endParaRPr lang="en-US" sz="1100" dirty="0"/>
          </a:p>
        </p:txBody>
      </p:sp>
      <p:sp>
        <p:nvSpPr>
          <p:cNvPr id="45" name="Shape 34"/>
          <p:cNvSpPr/>
          <p:nvPr/>
        </p:nvSpPr>
        <p:spPr>
          <a:xfrm>
            <a:off x="9326880" y="3794760"/>
            <a:ext cx="320040" cy="0"/>
          </a:xfrm>
          <a:prstGeom prst="line">
            <a:avLst/>
          </a:prstGeom>
          <a:noFill/>
          <a:ln w="22225">
            <a:solidFill>
              <a:srgbClr val="0033A8"/>
            </a:solidFill>
            <a:prstDash val="solid"/>
          </a:ln>
        </p:spPr>
        <p:txBody>
          <a:bodyPr/>
          <a:p/>
        </p:txBody>
      </p:sp>
      <p:sp>
        <p:nvSpPr>
          <p:cNvPr id="47" name="Shape 36"/>
          <p:cNvSpPr/>
          <p:nvPr/>
        </p:nvSpPr>
        <p:spPr>
          <a:xfrm>
            <a:off x="9646920" y="2834640"/>
            <a:ext cx="0" cy="1920240"/>
          </a:xfrm>
          <a:prstGeom prst="line">
            <a:avLst/>
          </a:prstGeom>
          <a:noFill/>
          <a:ln w="22225">
            <a:solidFill>
              <a:srgbClr val="0033A8"/>
            </a:solidFill>
            <a:prstDash val="solid"/>
          </a:ln>
        </p:spPr>
        <p:txBody>
          <a:bodyPr/>
          <a:p/>
        </p:txBody>
      </p:sp>
      <p:sp>
        <p:nvSpPr>
          <p:cNvPr id="48" name="Shape 37"/>
          <p:cNvSpPr/>
          <p:nvPr/>
        </p:nvSpPr>
        <p:spPr>
          <a:xfrm>
            <a:off x="9646920" y="2834640"/>
            <a:ext cx="365760" cy="0"/>
          </a:xfrm>
          <a:prstGeom prst="line">
            <a:avLst/>
          </a:prstGeom>
          <a:noFill/>
          <a:ln w="22225">
            <a:solidFill>
              <a:srgbClr val="0033A8"/>
            </a:solidFill>
            <a:prstDash val="solid"/>
            <a:tailEnd type="triangle"/>
          </a:ln>
        </p:spPr>
        <p:txBody>
          <a:bodyPr/>
          <a:p/>
        </p:txBody>
      </p:sp>
      <p:sp>
        <p:nvSpPr>
          <p:cNvPr id="49" name="Shape 38"/>
          <p:cNvSpPr/>
          <p:nvPr/>
        </p:nvSpPr>
        <p:spPr>
          <a:xfrm>
            <a:off x="9646920" y="4754880"/>
            <a:ext cx="365760" cy="0"/>
          </a:xfrm>
          <a:prstGeom prst="line">
            <a:avLst/>
          </a:prstGeom>
          <a:noFill/>
          <a:ln w="22225">
            <a:solidFill>
              <a:srgbClr val="0033A8"/>
            </a:solidFill>
            <a:prstDash val="solid"/>
            <a:tailEnd type="triangle"/>
          </a:ln>
        </p:spPr>
        <p:txBody>
          <a:bodyPr/>
          <a:p/>
        </p:txBody>
      </p:sp>
      <p:sp>
        <p:nvSpPr>
          <p:cNvPr id="50" name="Text 39"/>
          <p:cNvSpPr txBox="1"/>
          <p:nvPr/>
        </p:nvSpPr>
        <p:spPr>
          <a:xfrm>
            <a:off x="9738360" y="2468880"/>
            <a:ext cx="274320" cy="27432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4</a:t>
            </a:r>
            <a:endParaRPr lang="en-US" sz="1100" dirty="0"/>
          </a:p>
        </p:txBody>
      </p:sp>
      <p:sp>
        <p:nvSpPr>
          <p:cNvPr id="51" name="Text 40"/>
          <p:cNvSpPr txBox="1"/>
          <p:nvPr/>
        </p:nvSpPr>
        <p:spPr>
          <a:xfrm>
            <a:off x="9738360" y="4389120"/>
            <a:ext cx="274320" cy="27432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5</a:t>
            </a:r>
            <a:endParaRPr lang="en-US" sz="1100" dirty="0"/>
          </a:p>
        </p:txBody>
      </p:sp>
      <p:sp>
        <p:nvSpPr>
          <p:cNvPr id="52" name="Text 41"/>
          <p:cNvSpPr txBox="1"/>
          <p:nvPr/>
        </p:nvSpPr>
        <p:spPr>
          <a:xfrm>
            <a:off x="7315200" y="5440680"/>
            <a:ext cx="4480560" cy="320040"/>
          </a:xfrm>
          <a:prstGeom prst="rect">
            <a:avLst/>
          </a:prstGeom>
          <a:noFill/>
          <a:ln/>
        </p:spPr>
        <p:txBody>
          <a:bodyPr wrap="square" lIns="0" tIns="0" rIns="0" bIns="0" rtlCol="0" anchor="ctr"/>
          <a:lstStyle/>
          <a:p>
            <a:pPr indent="0" marL="0">
              <a:buNone/>
            </a:pPr>
            <a:r>
              <a:rPr lang="en-US" sz="1100" i="1" dirty="0">
                <a:solidFill>
                  <a:srgbClr val="5B6478"/>
                </a:solidFill>
                <a:latin typeface="Calibri" pitchFamily="34" charset="0"/>
                <a:ea typeface="Calibri" pitchFamily="34" charset="-122"/>
                <a:cs typeface="Calibri" pitchFamily="34" charset="-120"/>
              </a:rPr>
              <a:t>6. client downloads the resume directly from S3 with the presigned URL</a:t>
            </a:r>
            <a:endParaRPr lang="en-US" sz="1100" dirty="0"/>
          </a:p>
        </p:txBody>
      </p:sp>
      <p:sp>
        <p:nvSpPr>
          <p:cNvPr id="53" name="Shape 42"/>
          <p:cNvSpPr/>
          <p:nvPr/>
        </p:nvSpPr>
        <p:spPr>
          <a:xfrm>
            <a:off x="457200" y="5897880"/>
            <a:ext cx="2880360" cy="457200"/>
          </a:xfrm>
          <a:prstGeom prst="roundRect">
            <a:avLst>
              <a:gd name="adj" fmla="val 50000"/>
            </a:avLst>
          </a:prstGeom>
          <a:solidFill>
            <a:srgbClr val="0A1A44"/>
          </a:solidFill>
          <a:ln w="12700">
            <a:solidFill>
              <a:srgbClr val="0A1A44"/>
            </a:solidFill>
            <a:prstDash val="solid"/>
          </a:ln>
        </p:spPr>
        <p:txBody>
          <a:bodyPr/>
          <a:p/>
        </p:txBody>
      </p:sp>
      <p:sp>
        <p:nvSpPr>
          <p:cNvPr id="55" name="Text 43"/>
          <p:cNvSpPr txBox="1"/>
          <p:nvPr/>
        </p:nvSpPr>
        <p:spPr>
          <a:xfrm>
            <a:off x="960120" y="5897880"/>
            <a:ext cx="23317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Encrypted at rest: S3 and DynamoDB</a:t>
            </a:r>
            <a:endParaRPr lang="en-US" sz="1200" dirty="0"/>
          </a:p>
        </p:txBody>
      </p:sp>
      <p:sp>
        <p:nvSpPr>
          <p:cNvPr id="56" name="Shape 44"/>
          <p:cNvSpPr/>
          <p:nvPr/>
        </p:nvSpPr>
        <p:spPr>
          <a:xfrm>
            <a:off x="3520440" y="5897880"/>
            <a:ext cx="2880360" cy="457200"/>
          </a:xfrm>
          <a:prstGeom prst="roundRect">
            <a:avLst>
              <a:gd name="adj" fmla="val 50000"/>
            </a:avLst>
          </a:prstGeom>
          <a:solidFill>
            <a:srgbClr val="0A1A44"/>
          </a:solidFill>
          <a:ln w="12700">
            <a:solidFill>
              <a:srgbClr val="0A1A44"/>
            </a:solidFill>
            <a:prstDash val="solid"/>
          </a:ln>
        </p:spPr>
        <p:txBody>
          <a:bodyPr/>
          <a:p/>
        </p:txBody>
      </p:sp>
      <p:sp>
        <p:nvSpPr>
          <p:cNvPr id="58" name="Text 45"/>
          <p:cNvSpPr txBox="1"/>
          <p:nvPr/>
        </p:nvSpPr>
        <p:spPr>
          <a:xfrm>
            <a:off x="4023360" y="5897880"/>
            <a:ext cx="23317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Stage throttling: 50 rps, burst 100</a:t>
            </a:r>
            <a:endParaRPr lang="en-US" sz="1200" dirty="0"/>
          </a:p>
        </p:txBody>
      </p:sp>
      <p:sp>
        <p:nvSpPr>
          <p:cNvPr id="59" name="Shape 46"/>
          <p:cNvSpPr/>
          <p:nvPr/>
        </p:nvSpPr>
        <p:spPr>
          <a:xfrm>
            <a:off x="6583680" y="5897880"/>
            <a:ext cx="2880360" cy="457200"/>
          </a:xfrm>
          <a:prstGeom prst="roundRect">
            <a:avLst>
              <a:gd name="adj" fmla="val 50000"/>
            </a:avLst>
          </a:prstGeom>
          <a:solidFill>
            <a:srgbClr val="0A1A44"/>
          </a:solidFill>
          <a:ln w="12700">
            <a:solidFill>
              <a:srgbClr val="0A1A44"/>
            </a:solidFill>
            <a:prstDash val="solid"/>
          </a:ln>
        </p:spPr>
        <p:txBody>
          <a:bodyPr/>
          <a:p/>
        </p:txBody>
      </p:sp>
      <p:pic>
        <p:nvPicPr>
          <p:cNvPr id="60" name="Image 11" descr="preencoded.png">    </p:cNvPr>
          <p:cNvPicPr>
            <a:picLocks noChangeAspect="1"/>
          </p:cNvPicPr>
          <p:nvPr/>
        </p:nvPicPr>
        <p:blipFill>
          <a:blip r:embed="rId12"/>
          <a:stretch>
            <a:fillRect/>
          </a:stretch>
        </p:blipFill>
        <p:spPr>
          <a:xfrm>
            <a:off x="6748272" y="5989320"/>
            <a:ext cx="274320" cy="274320"/>
          </a:xfrm>
          <a:prstGeom prst="rect">
            <a:avLst/>
          </a:prstGeom>
        </p:spPr>
      </p:pic>
      <p:sp>
        <p:nvSpPr>
          <p:cNvPr id="61" name="Text 47"/>
          <p:cNvSpPr txBox="1"/>
          <p:nvPr/>
        </p:nvSpPr>
        <p:spPr>
          <a:xfrm>
            <a:off x="7086600" y="5897880"/>
            <a:ext cx="23317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One least-privilege IAM role</a:t>
            </a:r>
            <a:endParaRPr lang="en-US" sz="1200" dirty="0"/>
          </a:p>
        </p:txBody>
      </p:sp>
      <p:pic>
        <p:nvPicPr>
          <p:cNvPr id="62" name="Picture 61" descr="image.png"/>
          <p:cNvPicPr>
            <a:picLocks noChangeAspect="1"/>
          </p:cNvPicPr>
          <p:nvPr/>
        </p:nvPicPr>
        <p:blipFill>
          <a:blip r:embed="rId15"/>
          <a:stretch>
            <a:fillRect/>
          </a:stretch>
        </p:blipFill>
        <p:spPr>
          <a:xfrm>
            <a:off x="621792" y="5989320"/>
            <a:ext cx="274320" cy="274320"/>
          </a:xfrm>
          <a:prstGeom prst="rect">
            <a:avLst/>
          </a:prstGeom>
        </p:spPr>
      </p:pic>
      <p:pic>
        <p:nvPicPr>
          <p:cNvPr id="63" name="Picture 62" descr="icon-gauge.png"/>
          <p:cNvPicPr>
            <a:picLocks noChangeAspect="1"/>
          </p:cNvPicPr>
          <p:nvPr/>
        </p:nvPicPr>
        <p:blipFill>
          <a:blip r:embed="rId16"/>
          <a:stretch>
            <a:fillRect/>
          </a:stretch>
        </p:blipFill>
        <p:spPr>
          <a:xfrm>
            <a:off x="3685032" y="5989320"/>
            <a:ext cx="274320" cy="274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indent="0" marL="0">
              <a:buNone/>
            </a:pPr>
            <a:r>
              <a:rPr lang="en-US" sz="3200" b="1" dirty="0">
                <a:solidFill>
                  <a:srgbClr val="0A1A44"/>
                </a:solidFill>
                <a:latin typeface="Calibri" pitchFamily="34" charset="0"/>
                <a:ea typeface="Calibri" pitchFamily="34" charset="-122"/>
                <a:cs typeface="Calibri" pitchFamily="34" charset="-120"/>
              </a:rPr>
              <a:t>OAuth2 client credentials with Cognito</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indent="0" marL="0">
              <a:buNone/>
            </a:pPr>
            <a:r>
              <a:rPr lang="en-US" sz="1500" dirty="0">
                <a:solidFill>
                  <a:srgbClr val="5B6478"/>
                </a:solidFill>
                <a:latin typeface="Calibri" pitchFamily="34" charset="0"/>
                <a:ea typeface="Calibri" pitchFamily="34" charset="-122"/>
                <a:cs typeface="Calibri" pitchFamily="34" charset="-120"/>
              </a:rPr>
              <a:t>Validated at the gateway, before any compute runs</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48640" y="1645920"/>
            <a:ext cx="5760720" cy="2331720"/>
          </a:xfrm>
          <a:prstGeom prst="rect">
            <a:avLst/>
          </a:prstGeom>
          <a:solidFill>
            <a:srgbClr val="0A1A44"/>
          </a:solidFill>
          <a:ln w="12700">
            <a:solidFill>
              <a:srgbClr val="0A1A44"/>
            </a:solidFill>
            <a:prstDash val="solid"/>
          </a:ln>
        </p:spPr>
        <p:txBody>
          <a:bodyPr/>
          <a:p/>
        </p:txBody>
      </p:sp>
      <p:sp>
        <p:nvSpPr>
          <p:cNvPr id="6" name="Text 4"/>
          <p:cNvSpPr txBox="1"/>
          <p:nvPr/>
        </p:nvSpPr>
        <p:spPr>
          <a:xfrm>
            <a:off x="777240" y="1783080"/>
            <a:ext cx="5394960" cy="2103120"/>
          </a:xfrm>
          <a:prstGeom prst="rect">
            <a:avLst/>
          </a:prstGeom>
          <a:noFill/>
          <a:ln/>
        </p:spPr>
        <p:txBody>
          <a:bodyPr wrap="square" lIns="0" tIns="0" rIns="0" bIns="0" rtlCol="0" anchor="t"/>
          <a:lstStyle/>
          <a:p>
            <a:pPr indent="0" marL="0">
              <a:buNone/>
            </a:pPr>
            <a:r>
              <a:rPr lang="en-US" sz="1300" dirty="0">
                <a:solidFill>
                  <a:srgbClr val="8FA6D6"/>
                </a:solidFill>
                <a:latin typeface="Courier New" pitchFamily="34" charset="0"/>
                <a:ea typeface="Courier New" pitchFamily="34" charset="-122"/>
                <a:cs typeface="Courier New" pitchFamily="34" charset="-120"/>
              </a:rPr>
              <a:t># 1. get a token</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curl -X POST $TOKEN_URL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-u $CLIENT_ID:$CLIENT_SECRET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-d grant_type=client_credentials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-d scope=candidate-api-dev/candidates.read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A6D6"/>
                </a:solidFill>
                <a:latin typeface="Courier New" pitchFamily="34" charset="0"/>
                <a:ea typeface="Courier New" pitchFamily="34" charset="-122"/>
                <a:cs typeface="Courier New" pitchFamily="34" charset="-120"/>
              </a:rPr>
              <a:t># 2. call the API</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curl $API/candidates/CA-000001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-H "Authorization: Bearer $TOKEN"</a:t>
            </a:r>
            <a:endParaRPr lang="en-US" sz="1300" dirty="0"/>
          </a:p>
        </p:txBody>
      </p:sp>
      <p:sp>
        <p:nvSpPr>
          <p:cNvPr id="7" name="Text 5"/>
          <p:cNvSpPr txBox="1"/>
          <p:nvPr/>
        </p:nvSpPr>
        <p:spPr>
          <a:xfrm>
            <a:off x="548640" y="4251960"/>
            <a:ext cx="5760720" cy="365760"/>
          </a:xfrm>
          <a:prstGeom prst="rect">
            <a:avLst/>
          </a:prstGeom>
          <a:noFill/>
          <a:ln/>
        </p:spPr>
        <p:txBody>
          <a:bodyPr wrap="square" lIns="0" tIns="0" rIns="0" bIns="0" rtlCol="0" anchor="ctr"/>
          <a:lstStyle/>
          <a:p>
            <a:pPr indent="0" marL="0">
              <a:buNone/>
            </a:pPr>
            <a:r>
              <a:rPr lang="en-US" sz="1800" b="1" dirty="0">
                <a:solidFill>
                  <a:srgbClr val="0A1A44"/>
                </a:solidFill>
                <a:latin typeface="Calibri" pitchFamily="34" charset="0"/>
                <a:ea typeface="Calibri" pitchFamily="34" charset="-122"/>
                <a:cs typeface="Calibri" pitchFamily="34" charset="-120"/>
              </a:rPr>
              <a:t>API Gateway checks on every call</a:t>
            </a:r>
            <a:endParaRPr lang="en-US" sz="1800" dirty="0"/>
          </a:p>
        </p:txBody>
      </p:sp>
      <p:sp>
        <p:nvSpPr>
          <p:cNvPr id="8" name="Text 6"/>
          <p:cNvSpPr txBox="1"/>
          <p:nvPr/>
        </p:nvSpPr>
        <p:spPr>
          <a:xfrm>
            <a:off x="548640" y="4663440"/>
            <a:ext cx="5760720" cy="118872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1B2233"/>
                </a:solidFill>
                <a:latin typeface="Calibri" pitchFamily="34" charset="0"/>
                <a:ea typeface="Calibri" pitchFamily="34" charset="-122"/>
                <a:cs typeface="Calibri" pitchFamily="34" charset="-120"/>
              </a:rPr>
              <a:t>Signature against the Cognito signing keys</a:t>
            </a:r>
            <a:endParaRPr lang="en-US" sz="1500" dirty="0"/>
          </a:p>
          <a:p>
            <a:pPr marL="342900" indent="-342900">
              <a:spcAft>
                <a:spcPts val="600"/>
              </a:spcAft>
              <a:buSzPct val="100000"/>
              <a:buChar char="•"/>
            </a:pPr>
            <a:r>
              <a:rPr lang="en-US" sz="1500" dirty="0">
                <a:solidFill>
                  <a:srgbClr val="1B2233"/>
                </a:solidFill>
                <a:latin typeface="Calibri" pitchFamily="34" charset="0"/>
                <a:ea typeface="Calibri" pitchFamily="34" charset="-122"/>
                <a:cs typeface="Calibri" pitchFamily="34" charset="-120"/>
              </a:rPr>
              <a:t>Issuer, expiry (60 min), token type = access</a:t>
            </a:r>
            <a:endParaRPr lang="en-US" sz="1500" dirty="0"/>
          </a:p>
          <a:p>
            <a:pPr marL="342900" indent="-342900">
              <a:spcAft>
                <a:spcPts val="600"/>
              </a:spcAft>
              <a:buSzPct val="100000"/>
              <a:buChar char="•"/>
            </a:pPr>
            <a:r>
              <a:rPr lang="en-US" sz="1500" dirty="0">
                <a:solidFill>
                  <a:srgbClr val="1B2233"/>
                </a:solidFill>
                <a:latin typeface="Calibri" pitchFamily="34" charset="0"/>
                <a:ea typeface="Calibri" pitchFamily="34" charset="-122"/>
                <a:cs typeface="Calibri" pitchFamily="34" charset="-120"/>
              </a:rPr>
              <a:t>Required scope for this method, else rejected</a:t>
            </a:r>
            <a:endParaRPr lang="en-US" sz="1500" dirty="0"/>
          </a:p>
        </p:txBody>
      </p:sp>
      <p:sp>
        <p:nvSpPr>
          <p:cNvPr id="9" name="Text 7"/>
          <p:cNvSpPr txBox="1"/>
          <p:nvPr/>
        </p:nvSpPr>
        <p:spPr>
          <a:xfrm>
            <a:off x="6766560" y="1645920"/>
            <a:ext cx="4846320" cy="365760"/>
          </a:xfrm>
          <a:prstGeom prst="rect">
            <a:avLst/>
          </a:prstGeom>
          <a:noFill/>
          <a:ln/>
        </p:spPr>
        <p:txBody>
          <a:bodyPr wrap="square" lIns="0" tIns="0" rIns="0" bIns="0" rtlCol="0" anchor="ctr"/>
          <a:lstStyle/>
          <a:p>
            <a:pPr indent="0" marL="0">
              <a:buNone/>
            </a:pPr>
            <a:r>
              <a:rPr lang="en-US" sz="1800" b="1" dirty="0">
                <a:solidFill>
                  <a:srgbClr val="0A1A44"/>
                </a:solidFill>
                <a:latin typeface="Calibri" pitchFamily="34" charset="0"/>
                <a:ea typeface="Calibri" pitchFamily="34" charset="-122"/>
                <a:cs typeface="Calibri" pitchFamily="34" charset="-120"/>
              </a:rPr>
              <a:t>One client, two scopes</a:t>
            </a:r>
            <a:endParaRPr lang="en-US" sz="1800" dirty="0"/>
          </a:p>
        </p:txBody>
      </p:sp>
      <p:sp>
        <p:nvSpPr>
          <p:cNvPr id="10" name="Shape 8"/>
          <p:cNvSpPr/>
          <p:nvPr/>
        </p:nvSpPr>
        <p:spPr>
          <a:xfrm>
            <a:off x="6766560" y="2148840"/>
            <a:ext cx="4846320" cy="1143000"/>
          </a:xfrm>
          <a:prstGeom prst="roundRect">
            <a:avLst>
              <a:gd name="adj" fmla="val 6400"/>
            </a:avLst>
          </a:prstGeom>
          <a:solidFill>
            <a:srgbClr val="EAF1FC"/>
          </a:solidFill>
          <a:ln w="12700">
            <a:solidFill>
              <a:srgbClr val="EAF1FC"/>
            </a:solidFill>
            <a:prstDash val="solid"/>
          </a:ln>
        </p:spPr>
        <p:txBody>
          <a:bodyPr/>
          <a:p/>
        </p:txBody>
      </p:sp>
      <p:sp>
        <p:nvSpPr>
          <p:cNvPr id="11" name="Shape 9"/>
          <p:cNvSpPr/>
          <p:nvPr/>
        </p:nvSpPr>
        <p:spPr>
          <a:xfrm>
            <a:off x="6949440" y="2350008"/>
            <a:ext cx="731520" cy="731520"/>
          </a:xfrm>
          <a:prstGeom prst="ellipse">
            <a:avLst/>
          </a:prstGeom>
          <a:solidFill>
            <a:srgbClr val="0033A8"/>
          </a:solidFill>
          <a:ln w="12700">
            <a:solidFill>
              <a:srgbClr val="0033A8"/>
            </a:solidFill>
            <a:prstDash val="solid"/>
          </a:ln>
        </p:spPr>
        <p:txBody>
          <a:bodyPr/>
          <a:p/>
        </p:txBody>
      </p:sp>
      <p:pic>
        <p:nvPicPr>
          <p:cNvPr id="12" name="Image 0" descr="preencoded.png">    </p:cNvPr>
          <p:cNvPicPr>
            <a:picLocks noChangeAspect="1"/>
          </p:cNvPicPr>
          <p:nvPr/>
        </p:nvPicPr>
        <p:blipFill>
          <a:blip r:embed="rId1"/>
          <a:stretch>
            <a:fillRect/>
          </a:stretch>
        </p:blipFill>
        <p:spPr>
          <a:xfrm>
            <a:off x="7139635" y="2540203"/>
            <a:ext cx="351130" cy="351130"/>
          </a:xfrm>
          <a:prstGeom prst="rect">
            <a:avLst/>
          </a:prstGeom>
        </p:spPr>
      </p:pic>
      <p:sp>
        <p:nvSpPr>
          <p:cNvPr id="13" name="Text 10"/>
          <p:cNvSpPr txBox="1"/>
          <p:nvPr/>
        </p:nvSpPr>
        <p:spPr>
          <a:xfrm>
            <a:off x="7863840" y="2258568"/>
            <a:ext cx="3657600" cy="320040"/>
          </a:xfrm>
          <a:prstGeom prst="rect">
            <a:avLst/>
          </a:prstGeom>
          <a:noFill/>
          <a:ln/>
        </p:spPr>
        <p:txBody>
          <a:bodyPr wrap="square" lIns="0" tIns="0" rIns="0" bIns="0" rtlCol="0" anchor="ctr"/>
          <a:lstStyle/>
          <a:p>
            <a:pPr indent="0" marL="0">
              <a:buNone/>
            </a:pPr>
            <a:r>
              <a:rPr lang="en-US" sz="1600" b="1" dirty="0">
                <a:solidFill>
                  <a:srgbClr val="0A1A44"/>
                </a:solidFill>
                <a:latin typeface="Courier New" pitchFamily="34" charset="0"/>
                <a:ea typeface="Courier New" pitchFamily="34" charset="-122"/>
                <a:cs typeface="Courier New" pitchFamily="34" charset="-120"/>
              </a:rPr>
              <a:t>candidates.write</a:t>
            </a:r>
            <a:endParaRPr lang="en-US" sz="1600" dirty="0"/>
          </a:p>
        </p:txBody>
      </p:sp>
      <p:sp>
        <p:nvSpPr>
          <p:cNvPr id="14" name="Text 11"/>
          <p:cNvSpPr txBox="1"/>
          <p:nvPr/>
        </p:nvSpPr>
        <p:spPr>
          <a:xfrm>
            <a:off x="7863840" y="2587752"/>
            <a:ext cx="3657600" cy="274320"/>
          </a:xfrm>
          <a:prstGeom prst="rect">
            <a:avLst/>
          </a:prstGeom>
          <a:noFill/>
          <a:ln/>
        </p:spPr>
        <p:txBody>
          <a:bodyPr wrap="square" lIns="0" tIns="0" rIns="0" bIns="0" rtlCol="0" anchor="ctr"/>
          <a:lstStyle/>
          <a:p>
            <a:pPr indent="0" marL="0">
              <a:buNone/>
            </a:pPr>
            <a:r>
              <a:rPr lang="en-US" sz="1250" dirty="0">
                <a:solidFill>
                  <a:srgbClr val="0033A8"/>
                </a:solidFill>
                <a:latin typeface="Courier New" pitchFamily="34" charset="0"/>
                <a:ea typeface="Courier New" pitchFamily="34" charset="-122"/>
                <a:cs typeface="Courier New" pitchFamily="34" charset="-120"/>
              </a:rPr>
              <a:t>Required by POST /candidates</a:t>
            </a:r>
            <a:endParaRPr lang="en-US" sz="1250" dirty="0"/>
          </a:p>
        </p:txBody>
      </p:sp>
      <p:sp>
        <p:nvSpPr>
          <p:cNvPr id="15" name="Text 12"/>
          <p:cNvSpPr txBox="1"/>
          <p:nvPr/>
        </p:nvSpPr>
        <p:spPr>
          <a:xfrm>
            <a:off x="7863840" y="2880360"/>
            <a:ext cx="3657600" cy="27432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A token without it cannot create a candidate</a:t>
            </a:r>
            <a:endParaRPr lang="en-US" sz="1250" dirty="0"/>
          </a:p>
        </p:txBody>
      </p:sp>
      <p:sp>
        <p:nvSpPr>
          <p:cNvPr id="16" name="Shape 13"/>
          <p:cNvSpPr/>
          <p:nvPr/>
        </p:nvSpPr>
        <p:spPr>
          <a:xfrm>
            <a:off x="6766560" y="3474720"/>
            <a:ext cx="4846320" cy="1143000"/>
          </a:xfrm>
          <a:prstGeom prst="roundRect">
            <a:avLst>
              <a:gd name="adj" fmla="val 6400"/>
            </a:avLst>
          </a:prstGeom>
          <a:solidFill>
            <a:srgbClr val="EAF1FC"/>
          </a:solidFill>
          <a:ln w="12700">
            <a:solidFill>
              <a:srgbClr val="EAF1FC"/>
            </a:solidFill>
            <a:prstDash val="solid"/>
          </a:ln>
        </p:spPr>
        <p:txBody>
          <a:bodyPr/>
          <a:p/>
        </p:txBody>
      </p:sp>
      <p:sp>
        <p:nvSpPr>
          <p:cNvPr id="17" name="Shape 14"/>
          <p:cNvSpPr/>
          <p:nvPr/>
        </p:nvSpPr>
        <p:spPr>
          <a:xfrm>
            <a:off x="6949440" y="3675888"/>
            <a:ext cx="731520" cy="731520"/>
          </a:xfrm>
          <a:prstGeom prst="ellipse">
            <a:avLst/>
          </a:prstGeom>
          <a:solidFill>
            <a:srgbClr val="0033A8"/>
          </a:solidFill>
          <a:ln w="12700">
            <a:solidFill>
              <a:srgbClr val="0033A8"/>
            </a:solidFill>
            <a:prstDash val="solid"/>
          </a:ln>
        </p:spPr>
        <p:txBody>
          <a:bodyPr/>
          <a:p/>
        </p:txBody>
      </p:sp>
      <p:pic>
        <p:nvPicPr>
          <p:cNvPr id="18" name="Image 1" descr="preencoded.png">    </p:cNvPr>
          <p:cNvPicPr>
            <a:picLocks noChangeAspect="1"/>
          </p:cNvPicPr>
          <p:nvPr/>
        </p:nvPicPr>
        <p:blipFill>
          <a:blip r:embed="rId2"/>
          <a:stretch>
            <a:fillRect/>
          </a:stretch>
        </p:blipFill>
        <p:spPr>
          <a:xfrm>
            <a:off x="7139635" y="3866083"/>
            <a:ext cx="351130" cy="351130"/>
          </a:xfrm>
          <a:prstGeom prst="rect">
            <a:avLst/>
          </a:prstGeom>
        </p:spPr>
      </p:pic>
      <p:sp>
        <p:nvSpPr>
          <p:cNvPr id="19" name="Text 15"/>
          <p:cNvSpPr txBox="1"/>
          <p:nvPr/>
        </p:nvSpPr>
        <p:spPr>
          <a:xfrm>
            <a:off x="7863840" y="3584448"/>
            <a:ext cx="3657600" cy="320040"/>
          </a:xfrm>
          <a:prstGeom prst="rect">
            <a:avLst/>
          </a:prstGeom>
          <a:noFill/>
          <a:ln/>
        </p:spPr>
        <p:txBody>
          <a:bodyPr wrap="square" lIns="0" tIns="0" rIns="0" bIns="0" rtlCol="0" anchor="ctr"/>
          <a:lstStyle/>
          <a:p>
            <a:pPr indent="0" marL="0">
              <a:buNone/>
            </a:pPr>
            <a:r>
              <a:rPr lang="en-US" sz="1600" b="1" dirty="0">
                <a:solidFill>
                  <a:srgbClr val="0A1A44"/>
                </a:solidFill>
                <a:latin typeface="Courier New" pitchFamily="34" charset="0"/>
                <a:ea typeface="Courier New" pitchFamily="34" charset="-122"/>
                <a:cs typeface="Courier New" pitchFamily="34" charset="-120"/>
              </a:rPr>
              <a:t>candidates.read</a:t>
            </a:r>
            <a:endParaRPr lang="en-US" sz="1600" dirty="0"/>
          </a:p>
        </p:txBody>
      </p:sp>
      <p:sp>
        <p:nvSpPr>
          <p:cNvPr id="20" name="Text 16"/>
          <p:cNvSpPr txBox="1"/>
          <p:nvPr/>
        </p:nvSpPr>
        <p:spPr>
          <a:xfrm>
            <a:off x="7863840" y="3913632"/>
            <a:ext cx="3657600" cy="274320"/>
          </a:xfrm>
          <a:prstGeom prst="rect">
            <a:avLst/>
          </a:prstGeom>
          <a:noFill/>
          <a:ln/>
        </p:spPr>
        <p:txBody>
          <a:bodyPr wrap="square" lIns="0" tIns="0" rIns="0" bIns="0" rtlCol="0" anchor="ctr"/>
          <a:lstStyle/>
          <a:p>
            <a:pPr indent="0" marL="0">
              <a:buNone/>
            </a:pPr>
            <a:r>
              <a:rPr lang="en-US" sz="1250" dirty="0">
                <a:solidFill>
                  <a:srgbClr val="0033A8"/>
                </a:solidFill>
                <a:latin typeface="Courier New" pitchFamily="34" charset="0"/>
                <a:ea typeface="Courier New" pitchFamily="34" charset="-122"/>
                <a:cs typeface="Courier New" pitchFamily="34" charset="-120"/>
              </a:rPr>
              <a:t>Required by both GET routes</a:t>
            </a:r>
            <a:endParaRPr lang="en-US" sz="1250" dirty="0"/>
          </a:p>
        </p:txBody>
      </p:sp>
      <p:sp>
        <p:nvSpPr>
          <p:cNvPr id="21" name="Text 17"/>
          <p:cNvSpPr txBox="1"/>
          <p:nvPr/>
        </p:nvSpPr>
        <p:spPr>
          <a:xfrm>
            <a:off x="7863840" y="4206240"/>
            <a:ext cx="3657600" cy="274320"/>
          </a:xfrm>
          <a:prstGeom prst="rect">
            <a:avLst/>
          </a:prstGeom>
          <a:noFill/>
          <a:ln/>
        </p:spPr>
        <p:txBody>
          <a:bodyPr wrap="square" lIns="0" tIns="0" rIns="0" bIns="0" rtlCol="0" anchor="ctr"/>
          <a:lstStyle/>
          <a:p>
            <a:pPr indent="0" marL="0">
              <a:buNone/>
            </a:pPr>
            <a:r>
              <a:rPr lang="en-US" sz="1250" dirty="0">
                <a:solidFill>
                  <a:srgbClr val="5B6478"/>
                </a:solidFill>
                <a:latin typeface="Calibri" pitchFamily="34" charset="0"/>
                <a:ea typeface="Calibri" pitchFamily="34" charset="-122"/>
                <a:cs typeface="Calibri" pitchFamily="34" charset="-120"/>
              </a:rPr>
              <a:t>Read-only token: GET works, POST is refused</a:t>
            </a:r>
            <a:endParaRPr lang="en-US" sz="1250" dirty="0"/>
          </a:p>
        </p:txBody>
      </p:sp>
      <p:sp>
        <p:nvSpPr>
          <p:cNvPr id="22" name="Text 18"/>
          <p:cNvSpPr txBox="1"/>
          <p:nvPr/>
        </p:nvSpPr>
        <p:spPr>
          <a:xfrm>
            <a:off x="6766560" y="4892040"/>
            <a:ext cx="4846320" cy="1188720"/>
          </a:xfrm>
          <a:prstGeom prst="rect">
            <a:avLst/>
          </a:prstGeom>
          <a:noFill/>
          <a:ln/>
        </p:spPr>
        <p:txBody>
          <a:bodyPr wrap="square" lIns="0" tIns="0" rIns="0" bIns="0" rtlCol="0" anchor="t"/>
          <a:lstStyle/>
          <a:p>
            <a:pPr indent="0" marL="0">
              <a:buNone/>
            </a:pPr>
            <a:r>
              <a:rPr lang="en-US" sz="1400" b="1" dirty="0">
                <a:solidFill>
                  <a:srgbClr val="0A1A44"/>
                </a:solidFill>
                <a:latin typeface="Calibri" pitchFamily="34" charset="0"/>
                <a:ea typeface="Calibri" pitchFamily="34" charset="-122"/>
                <a:cs typeface="Calibri" pitchFamily="34" charset="-120"/>
              </a:rPr>
              <a:t>Hardening: </a:t>
            </a:r>
            <a:pPr indent="0" marL="0">
              <a:buNone/>
            </a:pPr>
            <a:r>
              <a:rPr lang="en-US" sz="1400" dirty="0">
                <a:solidFill>
                  <a:srgbClr val="1B2233"/>
                </a:solidFill>
                <a:latin typeface="Calibri" pitchFamily="34" charset="0"/>
                <a:ea typeface="Calibri" pitchFamily="34" charset="-122"/>
                <a:cs typeface="Calibri" pitchFamily="34" charset="-120"/>
              </a:rPr>
              <a:t>one confidential client, client_credentials is the only grant, self sign-up disabled, token revocation on, secrets never in code (encrypted remote state).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indent="0" marL="0">
              <a:buNone/>
            </a:pPr>
            <a:r>
              <a:rPr lang="en-US" sz="3200" b="1" dirty="0">
                <a:solidFill>
                  <a:srgbClr val="0A1A44"/>
                </a:solidFill>
                <a:latin typeface="Calibri" pitchFamily="34" charset="0"/>
                <a:ea typeface="Calibri" pitchFamily="34" charset="-122"/>
                <a:cs typeface="Calibri" pitchFamily="34" charset="-120"/>
              </a:rPr>
              <a:t>Data model and access patterns</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indent="0" marL="0">
              <a:buNone/>
            </a:pPr>
            <a:r>
              <a:rPr lang="en-US" sz="1500" dirty="0">
                <a:solidFill>
                  <a:srgbClr val="5B6478"/>
                </a:solidFill>
                <a:latin typeface="Calibri" pitchFamily="34" charset="0"/>
                <a:ea typeface="Calibri" pitchFamily="34" charset="-122"/>
                <a:cs typeface="Calibri" pitchFamily="34" charset="-120"/>
              </a:rPr>
              <a:t>Key design driven by the queries, not by the table columns</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48640" y="1645920"/>
            <a:ext cx="5577840" cy="4434840"/>
          </a:xfrm>
          <a:prstGeom prst="roundRect">
            <a:avLst>
              <a:gd name="adj" fmla="val 1649"/>
            </a:avLst>
          </a:prstGeom>
          <a:solidFill>
            <a:srgbClr val="EAF1FC"/>
          </a:solidFill>
          <a:ln w="12700">
            <a:solidFill>
              <a:srgbClr val="EAF1FC"/>
            </a:solidFill>
            <a:prstDash val="solid"/>
          </a:ln>
        </p:spPr>
        <p:txBody>
          <a:bodyPr/>
          <a:p/>
        </p:txBody>
      </p:sp>
      <p:sp>
        <p:nvSpPr>
          <p:cNvPr id="6" name="Shape 4"/>
          <p:cNvSpPr/>
          <p:nvPr/>
        </p:nvSpPr>
        <p:spPr>
          <a:xfrm>
            <a:off x="777240" y="1828800"/>
            <a:ext cx="640080" cy="640080"/>
          </a:xfrm>
          <a:prstGeom prst="ellipse">
            <a:avLst/>
          </a:prstGeom>
          <a:solidFill>
            <a:srgbClr val="0033A8"/>
          </a:solidFill>
          <a:ln w="12700">
            <a:solidFill>
              <a:srgbClr val="0033A8"/>
            </a:solidFill>
            <a:prstDash val="solid"/>
          </a:ln>
        </p:spPr>
        <p:txBody>
          <a:bodyPr/>
          <a:p/>
        </p:txBody>
      </p:sp>
      <p:pic>
        <p:nvPicPr>
          <p:cNvPr id="7" name="Image 0" descr="preencoded.png">    </p:cNvPr>
          <p:cNvPicPr>
            <a:picLocks noChangeAspect="1"/>
          </p:cNvPicPr>
          <p:nvPr/>
        </p:nvPicPr>
        <p:blipFill>
          <a:blip r:embed="rId1"/>
          <a:stretch>
            <a:fillRect/>
          </a:stretch>
        </p:blipFill>
        <p:spPr>
          <a:xfrm>
            <a:off x="943661" y="1995221"/>
            <a:ext cx="307238" cy="307238"/>
          </a:xfrm>
          <a:prstGeom prst="rect">
            <a:avLst/>
          </a:prstGeom>
        </p:spPr>
      </p:pic>
      <p:sp>
        <p:nvSpPr>
          <p:cNvPr id="8" name="Text 5"/>
          <p:cNvSpPr txBox="1"/>
          <p:nvPr/>
        </p:nvSpPr>
        <p:spPr>
          <a:xfrm>
            <a:off x="1554480" y="1920240"/>
            <a:ext cx="4389120" cy="457200"/>
          </a:xfrm>
          <a:prstGeom prst="rect">
            <a:avLst/>
          </a:prstGeom>
          <a:noFill/>
          <a:ln/>
        </p:spPr>
        <p:txBody>
          <a:bodyPr wrap="square" lIns="0" tIns="0" rIns="0" bIns="0" rtlCol="0" anchor="ctr"/>
          <a:lstStyle/>
          <a:p>
            <a:pPr indent="0" marL="0">
              <a:buNone/>
            </a:pPr>
            <a:r>
              <a:rPr lang="en-US" sz="1900" b="1" dirty="0">
                <a:solidFill>
                  <a:srgbClr val="0A1A44"/>
                </a:solidFill>
                <a:latin typeface="Calibri" pitchFamily="34" charset="0"/>
                <a:ea typeface="Calibri" pitchFamily="34" charset="-122"/>
                <a:cs typeface="Calibri" pitchFamily="34" charset="-120"/>
              </a:rPr>
              <a:t>DynamoDB, on-demand</a:t>
            </a:r>
            <a:endParaRPr lang="en-US" sz="1900" dirty="0"/>
          </a:p>
        </p:txBody>
      </p:sp>
      <p:sp>
        <p:nvSpPr>
          <p:cNvPr id="9" name="Text 6"/>
          <p:cNvSpPr txBox="1"/>
          <p:nvPr/>
        </p:nvSpPr>
        <p:spPr>
          <a:xfrm>
            <a:off x="822960" y="2697480"/>
            <a:ext cx="1920240" cy="320040"/>
          </a:xfrm>
          <a:prstGeom prst="rect">
            <a:avLst/>
          </a:prstGeom>
          <a:noFill/>
          <a:ln/>
        </p:spPr>
        <p:txBody>
          <a:bodyPr wrap="square" lIns="0" tIns="0" rIns="0" bIns="0" rtlCol="0" anchor="ctr"/>
          <a:lstStyle/>
          <a:p>
            <a:pPr indent="0" marL="0">
              <a:buNone/>
            </a:pPr>
            <a:r>
              <a:rPr lang="en-US" sz="1300" b="1" dirty="0">
                <a:solidFill>
                  <a:srgbClr val="5B6478"/>
                </a:solidFill>
                <a:latin typeface="Calibri" pitchFamily="34" charset="0"/>
                <a:ea typeface="Calibri" pitchFamily="34" charset="-122"/>
                <a:cs typeface="Calibri" pitchFamily="34" charset="-120"/>
              </a:rPr>
              <a:t>Partition key</a:t>
            </a:r>
            <a:endParaRPr lang="en-US" sz="1300" dirty="0"/>
          </a:p>
        </p:txBody>
      </p:sp>
      <p:sp>
        <p:nvSpPr>
          <p:cNvPr id="10" name="Text 7"/>
          <p:cNvSpPr txBox="1"/>
          <p:nvPr/>
        </p:nvSpPr>
        <p:spPr>
          <a:xfrm>
            <a:off x="2743200" y="2697480"/>
            <a:ext cx="3200400" cy="320040"/>
          </a:xfrm>
          <a:prstGeom prst="rect">
            <a:avLst/>
          </a:prstGeom>
          <a:noFill/>
          <a:ln/>
        </p:spPr>
        <p:txBody>
          <a:bodyPr wrap="square" lIns="0" tIns="0" rIns="0" bIns="0" rtlCol="0" anchor="ctr"/>
          <a:lstStyle/>
          <a:p>
            <a:pPr indent="0" marL="0">
              <a:buNone/>
            </a:pPr>
            <a:r>
              <a:rPr lang="en-US" sz="1300" dirty="0">
                <a:solidFill>
                  <a:srgbClr val="0033A8"/>
                </a:solidFill>
                <a:latin typeface="Courier New" pitchFamily="34" charset="0"/>
                <a:ea typeface="Courier New" pitchFamily="34" charset="-122"/>
                <a:cs typeface="Courier New" pitchFamily="34" charset="-120"/>
              </a:rPr>
              <a:t>candidateId</a:t>
            </a:r>
            <a:endParaRPr lang="en-US" sz="1300" dirty="0"/>
          </a:p>
        </p:txBody>
      </p:sp>
      <p:sp>
        <p:nvSpPr>
          <p:cNvPr id="11" name="Text 8"/>
          <p:cNvSpPr txBox="1"/>
          <p:nvPr/>
        </p:nvSpPr>
        <p:spPr>
          <a:xfrm>
            <a:off x="2743200" y="3017520"/>
            <a:ext cx="3200400" cy="320040"/>
          </a:xfrm>
          <a:prstGeom prst="rect">
            <a:avLst/>
          </a:prstGeom>
          <a:noFill/>
          <a:ln/>
        </p:spPr>
        <p:txBody>
          <a:bodyPr wrap="square" lIns="0" tIns="0" rIns="0" bIns="0" rtlCol="0" anchor="ctr"/>
          <a:lstStyle/>
          <a:p>
            <a:pPr indent="0" marL="0">
              <a:buNone/>
            </a:pPr>
            <a:r>
              <a:rPr lang="en-US" sz="1300" dirty="0">
                <a:solidFill>
                  <a:srgbClr val="1B2233"/>
                </a:solidFill>
                <a:latin typeface="Calibri" pitchFamily="34" charset="0"/>
                <a:ea typeface="Calibri" pitchFamily="34" charset="-122"/>
                <a:cs typeface="Calibri" pitchFamily="34" charset="-120"/>
              </a:rPr>
              <a:t>GET receives the ID only</a:t>
            </a:r>
            <a:endParaRPr lang="en-US" sz="1300" dirty="0"/>
          </a:p>
        </p:txBody>
      </p:sp>
      <p:sp>
        <p:nvSpPr>
          <p:cNvPr id="12" name="Text 9"/>
          <p:cNvSpPr txBox="1"/>
          <p:nvPr/>
        </p:nvSpPr>
        <p:spPr>
          <a:xfrm>
            <a:off x="822960" y="3520440"/>
            <a:ext cx="1920240" cy="320040"/>
          </a:xfrm>
          <a:prstGeom prst="rect">
            <a:avLst/>
          </a:prstGeom>
          <a:noFill/>
          <a:ln/>
        </p:spPr>
        <p:txBody>
          <a:bodyPr wrap="square" lIns="0" tIns="0" rIns="0" bIns="0" rtlCol="0" anchor="ctr"/>
          <a:lstStyle/>
          <a:p>
            <a:pPr indent="0" marL="0">
              <a:buNone/>
            </a:pPr>
            <a:r>
              <a:rPr lang="en-US" sz="1300" b="1" dirty="0">
                <a:solidFill>
                  <a:srgbClr val="5B6478"/>
                </a:solidFill>
                <a:latin typeface="Calibri" pitchFamily="34" charset="0"/>
                <a:ea typeface="Calibri" pitchFamily="34" charset="-122"/>
                <a:cs typeface="Calibri" pitchFamily="34" charset="-120"/>
              </a:rPr>
              <a:t>GSI specialty-index</a:t>
            </a:r>
            <a:endParaRPr lang="en-US" sz="1300" dirty="0"/>
          </a:p>
        </p:txBody>
      </p:sp>
      <p:sp>
        <p:nvSpPr>
          <p:cNvPr id="13" name="Text 10"/>
          <p:cNvSpPr txBox="1"/>
          <p:nvPr/>
        </p:nvSpPr>
        <p:spPr>
          <a:xfrm>
            <a:off x="2743200" y="3520440"/>
            <a:ext cx="3200400" cy="320040"/>
          </a:xfrm>
          <a:prstGeom prst="rect">
            <a:avLst/>
          </a:prstGeom>
          <a:noFill/>
          <a:ln/>
        </p:spPr>
        <p:txBody>
          <a:bodyPr wrap="square" lIns="0" tIns="0" rIns="0" bIns="0" rtlCol="0" anchor="ctr"/>
          <a:lstStyle/>
          <a:p>
            <a:pPr indent="0" marL="0">
              <a:buNone/>
            </a:pPr>
            <a:r>
              <a:rPr lang="en-US" sz="1300" dirty="0">
                <a:solidFill>
                  <a:srgbClr val="0033A8"/>
                </a:solidFill>
                <a:latin typeface="Courier New" pitchFamily="34" charset="0"/>
                <a:ea typeface="Courier New" pitchFamily="34" charset="-122"/>
                <a:cs typeface="Courier New" pitchFamily="34" charset="-120"/>
              </a:rPr>
              <a:t>specialty + candidateId</a:t>
            </a:r>
            <a:endParaRPr lang="en-US" sz="1300" dirty="0"/>
          </a:p>
        </p:txBody>
      </p:sp>
      <p:sp>
        <p:nvSpPr>
          <p:cNvPr id="14" name="Text 11"/>
          <p:cNvSpPr txBox="1"/>
          <p:nvPr/>
        </p:nvSpPr>
        <p:spPr>
          <a:xfrm>
            <a:off x="2743200" y="3840480"/>
            <a:ext cx="3200400" cy="320040"/>
          </a:xfrm>
          <a:prstGeom prst="rect">
            <a:avLst/>
          </a:prstGeom>
          <a:noFill/>
          <a:ln/>
        </p:spPr>
        <p:txBody>
          <a:bodyPr wrap="square" lIns="0" tIns="0" rIns="0" bIns="0" rtlCol="0" anchor="ctr"/>
          <a:lstStyle/>
          <a:p>
            <a:pPr indent="0" marL="0">
              <a:buNone/>
            </a:pPr>
            <a:r>
              <a:rPr lang="en-US" sz="1300" dirty="0">
                <a:solidFill>
                  <a:srgbClr val="1B2233"/>
                </a:solidFill>
                <a:latin typeface="Calibri" pitchFamily="34" charset="0"/>
                <a:ea typeface="Calibri" pitchFamily="34" charset="-122"/>
                <a:cs typeface="Calibri" pitchFamily="34" charset="-120"/>
              </a:rPr>
              <a:t>list, paginated, projected</a:t>
            </a:r>
            <a:endParaRPr lang="en-US" sz="1300" dirty="0"/>
          </a:p>
        </p:txBody>
      </p:sp>
      <p:sp>
        <p:nvSpPr>
          <p:cNvPr id="15" name="Text 12"/>
          <p:cNvSpPr txBox="1"/>
          <p:nvPr/>
        </p:nvSpPr>
        <p:spPr>
          <a:xfrm>
            <a:off x="822960" y="4343400"/>
            <a:ext cx="1920240" cy="320040"/>
          </a:xfrm>
          <a:prstGeom prst="rect">
            <a:avLst/>
          </a:prstGeom>
          <a:noFill/>
          <a:ln/>
        </p:spPr>
        <p:txBody>
          <a:bodyPr wrap="square" lIns="0" tIns="0" rIns="0" bIns="0" rtlCol="0" anchor="ctr"/>
          <a:lstStyle/>
          <a:p>
            <a:pPr indent="0" marL="0">
              <a:buNone/>
            </a:pPr>
            <a:r>
              <a:rPr lang="en-US" sz="1300" b="1" dirty="0">
                <a:solidFill>
                  <a:srgbClr val="5B6478"/>
                </a:solidFill>
                <a:latin typeface="Calibri" pitchFamily="34" charset="0"/>
                <a:ea typeface="Calibri" pitchFamily="34" charset="-122"/>
                <a:cs typeface="Calibri" pitchFamily="34" charset="-120"/>
              </a:rPr>
              <a:t>Sequence</a:t>
            </a:r>
            <a:endParaRPr lang="en-US" sz="1300" dirty="0"/>
          </a:p>
        </p:txBody>
      </p:sp>
      <p:sp>
        <p:nvSpPr>
          <p:cNvPr id="16" name="Text 13"/>
          <p:cNvSpPr txBox="1"/>
          <p:nvPr/>
        </p:nvSpPr>
        <p:spPr>
          <a:xfrm>
            <a:off x="2743200" y="4343400"/>
            <a:ext cx="3200400" cy="320040"/>
          </a:xfrm>
          <a:prstGeom prst="rect">
            <a:avLst/>
          </a:prstGeom>
          <a:noFill/>
          <a:ln/>
        </p:spPr>
        <p:txBody>
          <a:bodyPr wrap="square" lIns="0" tIns="0" rIns="0" bIns="0" rtlCol="0" anchor="ctr"/>
          <a:lstStyle/>
          <a:p>
            <a:pPr indent="0" marL="0">
              <a:buNone/>
            </a:pPr>
            <a:r>
              <a:rPr lang="en-US" sz="1300" dirty="0">
                <a:solidFill>
                  <a:srgbClr val="0033A8"/>
                </a:solidFill>
                <a:latin typeface="Courier New" pitchFamily="34" charset="0"/>
                <a:ea typeface="Courier New" pitchFamily="34" charset="-122"/>
                <a:cs typeface="Courier New" pitchFamily="34" charset="-120"/>
              </a:rPr>
              <a:t>UpdateItem ADD (atomic)</a:t>
            </a:r>
            <a:endParaRPr lang="en-US" sz="1300" dirty="0"/>
          </a:p>
        </p:txBody>
      </p:sp>
      <p:sp>
        <p:nvSpPr>
          <p:cNvPr id="17" name="Text 14"/>
          <p:cNvSpPr txBox="1"/>
          <p:nvPr/>
        </p:nvSpPr>
        <p:spPr>
          <a:xfrm>
            <a:off x="2743200" y="4663440"/>
            <a:ext cx="3200400" cy="320040"/>
          </a:xfrm>
          <a:prstGeom prst="rect">
            <a:avLst/>
          </a:prstGeom>
          <a:noFill/>
          <a:ln/>
        </p:spPr>
        <p:txBody>
          <a:bodyPr wrap="square" lIns="0" tIns="0" rIns="0" bIns="0" rtlCol="0" anchor="ctr"/>
          <a:lstStyle/>
          <a:p>
            <a:pPr indent="0" marL="0">
              <a:buNone/>
            </a:pPr>
            <a:r>
              <a:rPr lang="en-US" sz="1300" dirty="0">
                <a:solidFill>
                  <a:srgbClr val="1B2233"/>
                </a:solidFill>
                <a:latin typeface="Calibri" pitchFamily="34" charset="0"/>
                <a:ea typeface="Calibri" pitchFamily="34" charset="-122"/>
                <a:cs typeface="Calibri" pitchFamily="34" charset="-120"/>
              </a:rPr>
              <a:t>CA-000001, CA-000002...</a:t>
            </a:r>
            <a:endParaRPr lang="en-US" sz="1300" dirty="0"/>
          </a:p>
        </p:txBody>
      </p:sp>
      <p:sp>
        <p:nvSpPr>
          <p:cNvPr id="18" name="Text 15"/>
          <p:cNvSpPr txBox="1"/>
          <p:nvPr/>
        </p:nvSpPr>
        <p:spPr>
          <a:xfrm>
            <a:off x="822960" y="5166360"/>
            <a:ext cx="1920240" cy="320040"/>
          </a:xfrm>
          <a:prstGeom prst="rect">
            <a:avLst/>
          </a:prstGeom>
          <a:noFill/>
          <a:ln/>
        </p:spPr>
        <p:txBody>
          <a:bodyPr wrap="square" lIns="0" tIns="0" rIns="0" bIns="0" rtlCol="0" anchor="ctr"/>
          <a:lstStyle/>
          <a:p>
            <a:pPr indent="0" marL="0">
              <a:buNone/>
            </a:pPr>
            <a:r>
              <a:rPr lang="en-US" sz="1300" b="1" dirty="0">
                <a:solidFill>
                  <a:srgbClr val="5B6478"/>
                </a:solidFill>
                <a:latin typeface="Calibri" pitchFamily="34" charset="0"/>
                <a:ea typeface="Calibri" pitchFamily="34" charset="-122"/>
                <a:cs typeface="Calibri" pitchFamily="34" charset="-120"/>
              </a:rPr>
              <a:t>Integrity</a:t>
            </a:r>
            <a:endParaRPr lang="en-US" sz="1300" dirty="0"/>
          </a:p>
        </p:txBody>
      </p:sp>
      <p:sp>
        <p:nvSpPr>
          <p:cNvPr id="19" name="Text 16"/>
          <p:cNvSpPr txBox="1"/>
          <p:nvPr/>
        </p:nvSpPr>
        <p:spPr>
          <a:xfrm>
            <a:off x="2743200" y="5166360"/>
            <a:ext cx="3200400" cy="320040"/>
          </a:xfrm>
          <a:prstGeom prst="rect">
            <a:avLst/>
          </a:prstGeom>
          <a:noFill/>
          <a:ln/>
        </p:spPr>
        <p:txBody>
          <a:bodyPr wrap="square" lIns="0" tIns="0" rIns="0" bIns="0" rtlCol="0" anchor="ctr"/>
          <a:lstStyle/>
          <a:p>
            <a:pPr indent="0" marL="0">
              <a:buNone/>
            </a:pPr>
            <a:r>
              <a:rPr lang="en-US" sz="1300" dirty="0">
                <a:solidFill>
                  <a:srgbClr val="0033A8"/>
                </a:solidFill>
                <a:latin typeface="Courier New" pitchFamily="34" charset="0"/>
                <a:ea typeface="Courier New" pitchFamily="34" charset="-122"/>
                <a:cs typeface="Courier New" pitchFamily="34" charset="-120"/>
              </a:rPr>
              <a:t>attribute_not_exists</a:t>
            </a:r>
            <a:endParaRPr lang="en-US" sz="1300" dirty="0"/>
          </a:p>
        </p:txBody>
      </p:sp>
      <p:sp>
        <p:nvSpPr>
          <p:cNvPr id="20" name="Text 17"/>
          <p:cNvSpPr txBox="1"/>
          <p:nvPr/>
        </p:nvSpPr>
        <p:spPr>
          <a:xfrm>
            <a:off x="2743200" y="5486400"/>
            <a:ext cx="3200400" cy="320040"/>
          </a:xfrm>
          <a:prstGeom prst="rect">
            <a:avLst/>
          </a:prstGeom>
          <a:noFill/>
          <a:ln/>
        </p:spPr>
        <p:txBody>
          <a:bodyPr wrap="square" lIns="0" tIns="0" rIns="0" bIns="0" rtlCol="0" anchor="ctr"/>
          <a:lstStyle/>
          <a:p>
            <a:pPr indent="0" marL="0">
              <a:buNone/>
            </a:pPr>
            <a:r>
              <a:rPr lang="en-US" sz="1300" dirty="0">
                <a:solidFill>
                  <a:srgbClr val="1B2233"/>
                </a:solidFill>
                <a:latin typeface="Calibri" pitchFamily="34" charset="0"/>
                <a:ea typeface="Calibri" pitchFamily="34" charset="-122"/>
                <a:cs typeface="Calibri" pitchFamily="34" charset="-120"/>
              </a:rPr>
              <a:t>no overwrite possible</a:t>
            </a:r>
            <a:endParaRPr lang="en-US" sz="1300" dirty="0"/>
          </a:p>
        </p:txBody>
      </p:sp>
      <p:sp>
        <p:nvSpPr>
          <p:cNvPr id="21" name="Shape 18"/>
          <p:cNvSpPr/>
          <p:nvPr/>
        </p:nvSpPr>
        <p:spPr>
          <a:xfrm>
            <a:off x="6400800" y="1645920"/>
            <a:ext cx="5212080" cy="2468880"/>
          </a:xfrm>
          <a:prstGeom prst="roundRect">
            <a:avLst>
              <a:gd name="adj" fmla="val 2963"/>
            </a:avLst>
          </a:prstGeom>
          <a:solidFill>
            <a:srgbClr val="EAF1FC"/>
          </a:solidFill>
          <a:ln w="12700">
            <a:solidFill>
              <a:srgbClr val="EAF1FC"/>
            </a:solidFill>
            <a:prstDash val="solid"/>
          </a:ln>
        </p:spPr>
        <p:txBody>
          <a:bodyPr/>
          <a:p/>
        </p:txBody>
      </p:sp>
      <p:sp>
        <p:nvSpPr>
          <p:cNvPr id="22" name="Shape 19"/>
          <p:cNvSpPr/>
          <p:nvPr/>
        </p:nvSpPr>
        <p:spPr>
          <a:xfrm>
            <a:off x="6629400" y="1828800"/>
            <a:ext cx="640080" cy="640080"/>
          </a:xfrm>
          <a:prstGeom prst="ellipse">
            <a:avLst/>
          </a:prstGeom>
          <a:solidFill>
            <a:srgbClr val="0033A8"/>
          </a:solidFill>
          <a:ln w="12700">
            <a:solidFill>
              <a:srgbClr val="0033A8"/>
            </a:solidFill>
            <a:prstDash val="solid"/>
          </a:ln>
        </p:spPr>
        <p:txBody>
          <a:bodyPr/>
          <a:p/>
        </p:txBody>
      </p:sp>
      <p:pic>
        <p:nvPicPr>
          <p:cNvPr id="23" name="Image 1" descr="preencoded.png">    </p:cNvPr>
          <p:cNvPicPr>
            <a:picLocks noChangeAspect="1"/>
          </p:cNvPicPr>
          <p:nvPr/>
        </p:nvPicPr>
        <p:blipFill>
          <a:blip r:embed="rId2"/>
          <a:stretch>
            <a:fillRect/>
          </a:stretch>
        </p:blipFill>
        <p:spPr>
          <a:xfrm>
            <a:off x="6795821" y="1995221"/>
            <a:ext cx="307238" cy="307238"/>
          </a:xfrm>
          <a:prstGeom prst="rect">
            <a:avLst/>
          </a:prstGeom>
        </p:spPr>
      </p:pic>
      <p:sp>
        <p:nvSpPr>
          <p:cNvPr id="24" name="Text 20"/>
          <p:cNvSpPr txBox="1"/>
          <p:nvPr/>
        </p:nvSpPr>
        <p:spPr>
          <a:xfrm>
            <a:off x="7406640" y="1920240"/>
            <a:ext cx="4023360" cy="457200"/>
          </a:xfrm>
          <a:prstGeom prst="rect">
            <a:avLst/>
          </a:prstGeom>
          <a:noFill/>
          <a:ln/>
        </p:spPr>
        <p:txBody>
          <a:bodyPr wrap="square" lIns="0" tIns="0" rIns="0" bIns="0" rtlCol="0" anchor="ctr"/>
          <a:lstStyle/>
          <a:p>
            <a:pPr indent="0" marL="0">
              <a:buNone/>
            </a:pPr>
            <a:r>
              <a:rPr lang="en-US" sz="1900" b="1" dirty="0">
                <a:solidFill>
                  <a:srgbClr val="0A1A44"/>
                </a:solidFill>
                <a:latin typeface="Calibri" pitchFamily="34" charset="0"/>
                <a:ea typeface="Calibri" pitchFamily="34" charset="-122"/>
                <a:cs typeface="Calibri" pitchFamily="34" charset="-120"/>
              </a:rPr>
              <a:t>S3 layout</a:t>
            </a:r>
            <a:endParaRPr lang="en-US" sz="1900" dirty="0"/>
          </a:p>
        </p:txBody>
      </p:sp>
      <p:sp>
        <p:nvSpPr>
          <p:cNvPr id="25" name="Text 21"/>
          <p:cNvSpPr txBox="1"/>
          <p:nvPr/>
        </p:nvSpPr>
        <p:spPr>
          <a:xfrm>
            <a:off x="6675120" y="2606040"/>
            <a:ext cx="4754880" cy="914400"/>
          </a:xfrm>
          <a:prstGeom prst="rect">
            <a:avLst/>
          </a:prstGeom>
          <a:noFill/>
          <a:ln/>
        </p:spPr>
        <p:txBody>
          <a:bodyPr wrap="square" lIns="0" tIns="0" rIns="0" bIns="0" rtlCol="0" anchor="ctr"/>
          <a:lstStyle/>
          <a:p>
            <a:pPr indent="0" marL="0">
              <a:buNone/>
            </a:pPr>
            <a:r>
              <a:rPr lang="en-US" sz="1300" dirty="0">
                <a:solidFill>
                  <a:srgbClr val="1B2233"/>
                </a:solidFill>
                <a:latin typeface="Courier New" pitchFamily="34" charset="0"/>
                <a:ea typeface="Courier New" pitchFamily="34" charset="-122"/>
                <a:cs typeface="Courier New" pitchFamily="34" charset="-120"/>
              </a:rPr>
              <a:t>Informatique/CA-000001.pdf</a:t>
            </a:r>
            <a:endParaRPr lang="en-US" sz="1300" dirty="0"/>
          </a:p>
          <a:p>
            <a:pPr indent="0" marL="0">
              <a:buNone/>
            </a:pPr>
            <a:r>
              <a:rPr lang="en-US" sz="1300" dirty="0">
                <a:solidFill>
                  <a:srgbClr val="1B2233"/>
                </a:solidFill>
                <a:latin typeface="Courier New" pitchFamily="34" charset="0"/>
                <a:ea typeface="Courier New" pitchFamily="34" charset="-122"/>
                <a:cs typeface="Courier New" pitchFamily="34" charset="-120"/>
              </a:rPr>
              <a:t>Informatique/CA-000007.ppt</a:t>
            </a:r>
            <a:endParaRPr lang="en-US" sz="1300" dirty="0"/>
          </a:p>
          <a:p>
            <a:pPr indent="0" marL="0">
              <a:buNone/>
            </a:pPr>
            <a:r>
              <a:rPr lang="en-US" sz="1300" dirty="0">
                <a:solidFill>
                  <a:srgbClr val="1B2233"/>
                </a:solidFill>
                <a:latin typeface="Courier New" pitchFamily="34" charset="0"/>
                <a:ea typeface="Courier New" pitchFamily="34" charset="-122"/>
                <a:cs typeface="Courier New" pitchFamily="34" charset="-120"/>
              </a:rPr>
              <a:t>Mathematique/CA-000002.docx</a:t>
            </a:r>
            <a:endParaRPr lang="en-US" sz="1300" dirty="0"/>
          </a:p>
        </p:txBody>
      </p:sp>
      <p:sp>
        <p:nvSpPr>
          <p:cNvPr id="26" name="Text 22"/>
          <p:cNvSpPr txBox="1"/>
          <p:nvPr/>
        </p:nvSpPr>
        <p:spPr>
          <a:xfrm>
            <a:off x="6675120" y="3566160"/>
            <a:ext cx="4754880" cy="36576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The prefix per specialty spreads S3 request rates</a:t>
            </a:r>
            <a:endParaRPr lang="en-US" sz="1300" dirty="0"/>
          </a:p>
        </p:txBody>
      </p:sp>
      <p:sp>
        <p:nvSpPr>
          <p:cNvPr id="27" name="Shape 23"/>
          <p:cNvSpPr/>
          <p:nvPr/>
        </p:nvSpPr>
        <p:spPr>
          <a:xfrm>
            <a:off x="6400800" y="4343400"/>
            <a:ext cx="5212080" cy="1737360"/>
          </a:xfrm>
          <a:prstGeom prst="roundRect">
            <a:avLst>
              <a:gd name="adj" fmla="val 4211"/>
            </a:avLst>
          </a:prstGeom>
          <a:solidFill>
            <a:srgbClr val="0A1A44"/>
          </a:solidFill>
          <a:ln w="12700">
            <a:solidFill>
              <a:srgbClr val="0A1A44"/>
            </a:solidFill>
            <a:prstDash val="solid"/>
          </a:ln>
        </p:spPr>
        <p:txBody>
          <a:bodyPr/>
          <a:p/>
        </p:txBody>
      </p:sp>
      <p:sp>
        <p:nvSpPr>
          <p:cNvPr id="28" name="Text 24"/>
          <p:cNvSpPr txBox="1"/>
          <p:nvPr/>
        </p:nvSpPr>
        <p:spPr>
          <a:xfrm>
            <a:off x="6675120" y="4480560"/>
            <a:ext cx="475488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Upload consistency</a:t>
            </a:r>
            <a:endParaRPr lang="en-US" sz="1700" dirty="0"/>
          </a:p>
        </p:txBody>
      </p:sp>
      <p:sp>
        <p:nvSpPr>
          <p:cNvPr id="29" name="Text 25"/>
          <p:cNvSpPr txBox="1"/>
          <p:nvPr/>
        </p:nvSpPr>
        <p:spPr>
          <a:xfrm>
            <a:off x="6675120" y="4892040"/>
            <a:ext cx="4754880" cy="1097280"/>
          </a:xfrm>
          <a:prstGeom prst="rect">
            <a:avLst/>
          </a:prstGeom>
          <a:noFill/>
          <a:ln/>
        </p:spPr>
        <p:txBody>
          <a:bodyPr wrap="square" lIns="0" tIns="0" rIns="0" bIns="0" rtlCol="0" anchor="t"/>
          <a:lstStyle/>
          <a:p>
            <a:pPr indent="0" marL="0">
              <a:buNone/>
            </a:pPr>
            <a:r>
              <a:rPr lang="en-US" sz="1350" dirty="0">
                <a:solidFill>
                  <a:srgbClr val="DCE6F8"/>
                </a:solidFill>
                <a:latin typeface="Calibri" pitchFamily="34" charset="0"/>
                <a:ea typeface="Calibri" pitchFamily="34" charset="-122"/>
                <a:cs typeface="Calibri" pitchFamily="34" charset="-120"/>
              </a:rPr>
              <a:t>Validate → next ID → PutObject → PutItem. If the DynamoDB write fails, the uploaded object version is deleted, so there is no orphan file and no dangling reference.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indent="0" marL="0">
              <a:buNone/>
            </a:pPr>
            <a:r>
              <a:rPr lang="en-US" sz="3200" b="1" dirty="0">
                <a:solidFill>
                  <a:srgbClr val="0A1A44"/>
                </a:solidFill>
                <a:latin typeface="Calibri" pitchFamily="34" charset="0"/>
                <a:ea typeface="Calibri" pitchFamily="34" charset="-122"/>
                <a:cs typeface="Calibri" pitchFamily="34" charset="-120"/>
              </a:rPr>
              <a:t>Security in depth</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indent="0" marL="0">
              <a:buNone/>
            </a:pPr>
            <a:r>
              <a:rPr lang="en-US" sz="1500" dirty="0">
                <a:solidFill>
                  <a:srgbClr val="5B6478"/>
                </a:solidFill>
                <a:latin typeface="Calibri" pitchFamily="34" charset="0"/>
                <a:ea typeface="Calibri" pitchFamily="34" charset="-122"/>
                <a:cs typeface="Calibri" pitchFamily="34" charset="-120"/>
              </a:rPr>
              <a:t>Deny by default, grant the minimum, encrypt everything, log no personal data</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48640" y="1645920"/>
            <a:ext cx="3520440" cy="2011680"/>
          </a:xfrm>
          <a:prstGeom prst="roundRect">
            <a:avLst>
              <a:gd name="adj" fmla="val 3636"/>
            </a:avLst>
          </a:prstGeom>
          <a:solidFill>
            <a:srgbClr val="EAF1FC"/>
          </a:solidFill>
          <a:ln w="12700">
            <a:solidFill>
              <a:srgbClr val="EAF1FC"/>
            </a:solidFill>
            <a:prstDash val="solid"/>
          </a:ln>
        </p:spPr>
        <p:txBody>
          <a:bodyPr/>
          <a:p/>
        </p:txBody>
      </p:sp>
      <p:sp>
        <p:nvSpPr>
          <p:cNvPr id="6" name="Shape 4"/>
          <p:cNvSpPr/>
          <p:nvPr/>
        </p:nvSpPr>
        <p:spPr>
          <a:xfrm>
            <a:off x="777240" y="1874520"/>
            <a:ext cx="640080" cy="640080"/>
          </a:xfrm>
          <a:prstGeom prst="ellipse">
            <a:avLst/>
          </a:prstGeom>
          <a:solidFill>
            <a:srgbClr val="0033A8"/>
          </a:solidFill>
          <a:ln w="12700">
            <a:solidFill>
              <a:srgbClr val="0033A8"/>
            </a:solidFill>
            <a:prstDash val="solid"/>
          </a:ln>
        </p:spPr>
        <p:txBody>
          <a:bodyPr/>
          <a:p/>
        </p:txBody>
      </p:sp>
      <p:pic>
        <p:nvPicPr>
          <p:cNvPr id="7" name="Image 0" descr="preencoded.png">    </p:cNvPr>
          <p:cNvPicPr>
            <a:picLocks noChangeAspect="1"/>
          </p:cNvPicPr>
          <p:nvPr/>
        </p:nvPicPr>
        <p:blipFill>
          <a:blip r:embed="rId1"/>
          <a:stretch>
            <a:fillRect/>
          </a:stretch>
        </p:blipFill>
        <p:spPr>
          <a:xfrm>
            <a:off x="943661" y="2040941"/>
            <a:ext cx="307238" cy="307238"/>
          </a:xfrm>
          <a:prstGeom prst="rect">
            <a:avLst/>
          </a:prstGeom>
        </p:spPr>
      </p:pic>
      <p:sp>
        <p:nvSpPr>
          <p:cNvPr id="8" name="Text 5"/>
          <p:cNvSpPr txBox="1"/>
          <p:nvPr/>
        </p:nvSpPr>
        <p:spPr>
          <a:xfrm>
            <a:off x="1554480" y="1965960"/>
            <a:ext cx="2377440" cy="457200"/>
          </a:xfrm>
          <a:prstGeom prst="rect">
            <a:avLst/>
          </a:prstGeom>
          <a:noFill/>
          <a:ln/>
        </p:spPr>
        <p:txBody>
          <a:bodyPr wrap="square" lIns="0" tIns="0" rIns="0" bIns="0" rtlCol="0" anchor="ctr"/>
          <a:lstStyle/>
          <a:p>
            <a:pPr indent="0" marL="0">
              <a:buNone/>
            </a:pPr>
            <a:r>
              <a:rPr lang="en-US" sz="1900" b="1" dirty="0">
                <a:solidFill>
                  <a:srgbClr val="0A1A44"/>
                </a:solidFill>
                <a:latin typeface="Calibri" pitchFamily="34" charset="0"/>
                <a:ea typeface="Calibri" pitchFamily="34" charset="-122"/>
                <a:cs typeface="Calibri" pitchFamily="34" charset="-120"/>
              </a:rPr>
              <a:t>Entry point</a:t>
            </a:r>
            <a:endParaRPr lang="en-US" sz="1900" dirty="0"/>
          </a:p>
        </p:txBody>
      </p:sp>
      <p:sp>
        <p:nvSpPr>
          <p:cNvPr id="9" name="Text 6"/>
          <p:cNvSpPr txBox="1"/>
          <p:nvPr/>
        </p:nvSpPr>
        <p:spPr>
          <a:xfrm>
            <a:off x="777240" y="2606040"/>
            <a:ext cx="3108960" cy="96012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HTTPS only, TLS 1.2+. Stage throttling 50 rps, burst 100. Required parameters validated by API Gateway.</a:t>
            </a:r>
            <a:endParaRPr lang="en-US" sz="1300" dirty="0"/>
          </a:p>
        </p:txBody>
      </p:sp>
      <p:sp>
        <p:nvSpPr>
          <p:cNvPr id="10" name="Shape 7"/>
          <p:cNvSpPr/>
          <p:nvPr/>
        </p:nvSpPr>
        <p:spPr>
          <a:xfrm>
            <a:off x="4297680" y="1645920"/>
            <a:ext cx="3520440" cy="2011680"/>
          </a:xfrm>
          <a:prstGeom prst="roundRect">
            <a:avLst>
              <a:gd name="adj" fmla="val 3636"/>
            </a:avLst>
          </a:prstGeom>
          <a:solidFill>
            <a:srgbClr val="EAF1FC"/>
          </a:solidFill>
          <a:ln w="12700">
            <a:solidFill>
              <a:srgbClr val="EAF1FC"/>
            </a:solidFill>
            <a:prstDash val="solid"/>
          </a:ln>
        </p:spPr>
        <p:txBody>
          <a:bodyPr/>
          <a:p/>
        </p:txBody>
      </p:sp>
      <p:sp>
        <p:nvSpPr>
          <p:cNvPr id="11" name="Shape 8"/>
          <p:cNvSpPr/>
          <p:nvPr/>
        </p:nvSpPr>
        <p:spPr>
          <a:xfrm>
            <a:off x="4526280" y="1874520"/>
            <a:ext cx="640080" cy="640080"/>
          </a:xfrm>
          <a:prstGeom prst="ellipse">
            <a:avLst/>
          </a:prstGeom>
          <a:solidFill>
            <a:srgbClr val="0033A8"/>
          </a:solidFill>
          <a:ln w="12700">
            <a:solidFill>
              <a:srgbClr val="0033A8"/>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692701" y="2040941"/>
            <a:ext cx="307238" cy="307238"/>
          </a:xfrm>
          <a:prstGeom prst="rect">
            <a:avLst/>
          </a:prstGeom>
        </p:spPr>
      </p:pic>
      <p:sp>
        <p:nvSpPr>
          <p:cNvPr id="13" name="Text 9"/>
          <p:cNvSpPr txBox="1"/>
          <p:nvPr/>
        </p:nvSpPr>
        <p:spPr>
          <a:xfrm>
            <a:off x="5303520" y="1965960"/>
            <a:ext cx="2377440" cy="457200"/>
          </a:xfrm>
          <a:prstGeom prst="rect">
            <a:avLst/>
          </a:prstGeom>
          <a:noFill/>
          <a:ln/>
        </p:spPr>
        <p:txBody>
          <a:bodyPr wrap="square" lIns="0" tIns="0" rIns="0" bIns="0" rtlCol="0" anchor="ctr"/>
          <a:lstStyle/>
          <a:p>
            <a:pPr indent="0" marL="0">
              <a:buNone/>
            </a:pPr>
            <a:r>
              <a:rPr lang="en-US" sz="1900" b="1" dirty="0">
                <a:solidFill>
                  <a:srgbClr val="0A1A44"/>
                </a:solidFill>
                <a:latin typeface="Calibri" pitchFamily="34" charset="0"/>
                <a:ea typeface="Calibri" pitchFamily="34" charset="-122"/>
                <a:cs typeface="Calibri" pitchFamily="34" charset="-120"/>
              </a:rPr>
              <a:t>Identity</a:t>
            </a:r>
            <a:endParaRPr lang="en-US" sz="1900" dirty="0"/>
          </a:p>
        </p:txBody>
      </p:sp>
      <p:sp>
        <p:nvSpPr>
          <p:cNvPr id="14" name="Text 10"/>
          <p:cNvSpPr txBox="1"/>
          <p:nvPr/>
        </p:nvSpPr>
        <p:spPr>
          <a:xfrm>
            <a:off x="4526280" y="2606040"/>
            <a:ext cx="3108960" cy="96012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OAuth2 access tokens with per-method scopes. Invalid calls are rejected before Lambda runs.</a:t>
            </a:r>
            <a:endParaRPr lang="en-US" sz="1300" dirty="0"/>
          </a:p>
        </p:txBody>
      </p:sp>
      <p:sp>
        <p:nvSpPr>
          <p:cNvPr id="15" name="Shape 11"/>
          <p:cNvSpPr/>
          <p:nvPr/>
        </p:nvSpPr>
        <p:spPr>
          <a:xfrm>
            <a:off x="8046720" y="1645920"/>
            <a:ext cx="3520440" cy="2011680"/>
          </a:xfrm>
          <a:prstGeom prst="roundRect">
            <a:avLst>
              <a:gd name="adj" fmla="val 3636"/>
            </a:avLst>
          </a:prstGeom>
          <a:solidFill>
            <a:srgbClr val="EAF1FC"/>
          </a:solidFill>
          <a:ln w="12700">
            <a:solidFill>
              <a:srgbClr val="EAF1FC"/>
            </a:solidFill>
            <a:prstDash val="solid"/>
          </a:ln>
        </p:spPr>
        <p:txBody>
          <a:bodyPr/>
          <a:p/>
        </p:txBody>
      </p:sp>
      <p:sp>
        <p:nvSpPr>
          <p:cNvPr id="16" name="Shape 12"/>
          <p:cNvSpPr/>
          <p:nvPr/>
        </p:nvSpPr>
        <p:spPr>
          <a:xfrm>
            <a:off x="8275320" y="1874520"/>
            <a:ext cx="640080" cy="640080"/>
          </a:xfrm>
          <a:prstGeom prst="ellipse">
            <a:avLst/>
          </a:prstGeom>
          <a:solidFill>
            <a:srgbClr val="0033A8"/>
          </a:solidFill>
          <a:ln w="12700">
            <a:solidFill>
              <a:srgbClr val="0033A8"/>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8441741" y="2040941"/>
            <a:ext cx="307238" cy="307238"/>
          </a:xfrm>
          <a:prstGeom prst="rect">
            <a:avLst/>
          </a:prstGeom>
        </p:spPr>
      </p:pic>
      <p:sp>
        <p:nvSpPr>
          <p:cNvPr id="18" name="Text 13"/>
          <p:cNvSpPr txBox="1"/>
          <p:nvPr/>
        </p:nvSpPr>
        <p:spPr>
          <a:xfrm>
            <a:off x="9052560" y="1965960"/>
            <a:ext cx="2377440" cy="457200"/>
          </a:xfrm>
          <a:prstGeom prst="rect">
            <a:avLst/>
          </a:prstGeom>
          <a:noFill/>
          <a:ln/>
        </p:spPr>
        <p:txBody>
          <a:bodyPr wrap="square" lIns="0" tIns="0" rIns="0" bIns="0" rtlCol="0" anchor="ctr"/>
          <a:lstStyle/>
          <a:p>
            <a:pPr indent="0" marL="0">
              <a:buNone/>
            </a:pPr>
            <a:r>
              <a:rPr lang="en-US" sz="1900" b="1" dirty="0">
                <a:solidFill>
                  <a:srgbClr val="0A1A44"/>
                </a:solidFill>
                <a:latin typeface="Calibri" pitchFamily="34" charset="0"/>
                <a:ea typeface="Calibri" pitchFamily="34" charset="-122"/>
                <a:cs typeface="Calibri" pitchFamily="34" charset="-120"/>
              </a:rPr>
              <a:t>IAM</a:t>
            </a:r>
            <a:endParaRPr lang="en-US" sz="1900" dirty="0"/>
          </a:p>
        </p:txBody>
      </p:sp>
      <p:sp>
        <p:nvSpPr>
          <p:cNvPr id="19" name="Text 14"/>
          <p:cNvSpPr txBox="1"/>
          <p:nvPr/>
        </p:nvSpPr>
        <p:spPr>
          <a:xfrm>
            <a:off x="8275320" y="2606040"/>
            <a:ext cx="3108960" cy="96012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One role, exact actions on exact ARNs, no wildcard on data. Listing can only query the index, never scan the table.</a:t>
            </a:r>
            <a:endParaRPr lang="en-US" sz="1300" dirty="0"/>
          </a:p>
        </p:txBody>
      </p:sp>
      <p:sp>
        <p:nvSpPr>
          <p:cNvPr id="20" name="Shape 15"/>
          <p:cNvSpPr/>
          <p:nvPr/>
        </p:nvSpPr>
        <p:spPr>
          <a:xfrm>
            <a:off x="548640" y="3886200"/>
            <a:ext cx="3520440" cy="2011680"/>
          </a:xfrm>
          <a:prstGeom prst="roundRect">
            <a:avLst>
              <a:gd name="adj" fmla="val 3636"/>
            </a:avLst>
          </a:prstGeom>
          <a:solidFill>
            <a:srgbClr val="EAF1FC"/>
          </a:solidFill>
          <a:ln w="12700">
            <a:solidFill>
              <a:srgbClr val="EAF1FC"/>
            </a:solidFill>
            <a:prstDash val="solid"/>
          </a:ln>
        </p:spPr>
        <p:txBody>
          <a:bodyPr/>
          <a:p/>
        </p:txBody>
      </p:sp>
      <p:sp>
        <p:nvSpPr>
          <p:cNvPr id="21" name="Shape 16"/>
          <p:cNvSpPr/>
          <p:nvPr/>
        </p:nvSpPr>
        <p:spPr>
          <a:xfrm>
            <a:off x="777240" y="4114800"/>
            <a:ext cx="640080" cy="640080"/>
          </a:xfrm>
          <a:prstGeom prst="ellipse">
            <a:avLst/>
          </a:prstGeom>
          <a:solidFill>
            <a:srgbClr val="0033A8"/>
          </a:solidFill>
          <a:ln w="12700">
            <a:solidFill>
              <a:srgbClr val="0033A8"/>
            </a:solidFill>
            <a:prstDash val="solid"/>
          </a:ln>
        </p:spPr>
        <p:txBody>
          <a:bodyPr/>
          <a:p/>
        </p:txBody>
      </p:sp>
      <p:pic>
        <p:nvPicPr>
          <p:cNvPr id="22" name="Image 3" descr="preencoded.png">    </p:cNvPr>
          <p:cNvPicPr>
            <a:picLocks noChangeAspect="1"/>
          </p:cNvPicPr>
          <p:nvPr/>
        </p:nvPicPr>
        <p:blipFill>
          <a:blip r:embed="rId4"/>
          <a:stretch>
            <a:fillRect/>
          </a:stretch>
        </p:blipFill>
        <p:spPr>
          <a:xfrm>
            <a:off x="943661" y="4281221"/>
            <a:ext cx="307238" cy="307238"/>
          </a:xfrm>
          <a:prstGeom prst="rect">
            <a:avLst/>
          </a:prstGeom>
        </p:spPr>
      </p:pic>
      <p:sp>
        <p:nvSpPr>
          <p:cNvPr id="23" name="Text 17"/>
          <p:cNvSpPr txBox="1"/>
          <p:nvPr/>
        </p:nvSpPr>
        <p:spPr>
          <a:xfrm>
            <a:off x="1554480" y="4206240"/>
            <a:ext cx="2377440" cy="457200"/>
          </a:xfrm>
          <a:prstGeom prst="rect">
            <a:avLst/>
          </a:prstGeom>
          <a:noFill/>
          <a:ln/>
        </p:spPr>
        <p:txBody>
          <a:bodyPr wrap="square" lIns="0" tIns="0" rIns="0" bIns="0" rtlCol="0" anchor="ctr"/>
          <a:lstStyle/>
          <a:p>
            <a:pPr indent="0" marL="0">
              <a:buNone/>
            </a:pPr>
            <a:r>
              <a:rPr lang="en-US" sz="1900" b="1" dirty="0">
                <a:solidFill>
                  <a:srgbClr val="0A1A44"/>
                </a:solidFill>
                <a:latin typeface="Calibri" pitchFamily="34" charset="0"/>
                <a:ea typeface="Calibri" pitchFamily="34" charset="-122"/>
                <a:cs typeface="Calibri" pitchFamily="34" charset="-120"/>
              </a:rPr>
              <a:t>Encryption</a:t>
            </a:r>
            <a:endParaRPr lang="en-US" sz="1900" dirty="0"/>
          </a:p>
        </p:txBody>
      </p:sp>
      <p:sp>
        <p:nvSpPr>
          <p:cNvPr id="24" name="Text 18"/>
          <p:cNvSpPr txBox="1"/>
          <p:nvPr/>
        </p:nvSpPr>
        <p:spPr>
          <a:xfrm>
            <a:off x="777240" y="4846320"/>
            <a:ext cx="3108960" cy="96012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Always on at rest: SSE-S3 (AES-256) for resumes, DynamoDB default encryption for the metadata.</a:t>
            </a:r>
            <a:endParaRPr lang="en-US" sz="1300" dirty="0"/>
          </a:p>
        </p:txBody>
      </p:sp>
      <p:sp>
        <p:nvSpPr>
          <p:cNvPr id="25" name="Shape 19"/>
          <p:cNvSpPr/>
          <p:nvPr/>
        </p:nvSpPr>
        <p:spPr>
          <a:xfrm>
            <a:off x="4297680" y="3886200"/>
            <a:ext cx="3520440" cy="2011680"/>
          </a:xfrm>
          <a:prstGeom prst="roundRect">
            <a:avLst>
              <a:gd name="adj" fmla="val 3636"/>
            </a:avLst>
          </a:prstGeom>
          <a:solidFill>
            <a:srgbClr val="EAF1FC"/>
          </a:solidFill>
          <a:ln w="12700">
            <a:solidFill>
              <a:srgbClr val="EAF1FC"/>
            </a:solidFill>
            <a:prstDash val="solid"/>
          </a:ln>
        </p:spPr>
        <p:txBody>
          <a:bodyPr/>
          <a:p/>
        </p:txBody>
      </p:sp>
      <p:sp>
        <p:nvSpPr>
          <p:cNvPr id="26" name="Shape 20"/>
          <p:cNvSpPr/>
          <p:nvPr/>
        </p:nvSpPr>
        <p:spPr>
          <a:xfrm>
            <a:off x="4526280" y="4114800"/>
            <a:ext cx="640080" cy="640080"/>
          </a:xfrm>
          <a:prstGeom prst="ellipse">
            <a:avLst/>
          </a:prstGeom>
          <a:solidFill>
            <a:srgbClr val="0033A8"/>
          </a:solidFill>
          <a:ln w="12700">
            <a:solidFill>
              <a:srgbClr val="0033A8"/>
            </a:solidFill>
            <a:prstDash val="solid"/>
          </a:ln>
        </p:spPr>
        <p:txBody>
          <a:bodyPr/>
          <a:p/>
        </p:txBody>
      </p:sp>
      <p:pic>
        <p:nvPicPr>
          <p:cNvPr id="27" name="Image 4" descr="preencoded.png">    </p:cNvPr>
          <p:cNvPicPr>
            <a:picLocks noChangeAspect="1"/>
          </p:cNvPicPr>
          <p:nvPr/>
        </p:nvPicPr>
        <p:blipFill>
          <a:blip r:embed="rId5"/>
          <a:stretch>
            <a:fillRect/>
          </a:stretch>
        </p:blipFill>
        <p:spPr>
          <a:xfrm>
            <a:off x="4692701" y="4281221"/>
            <a:ext cx="307238" cy="307238"/>
          </a:xfrm>
          <a:prstGeom prst="rect">
            <a:avLst/>
          </a:prstGeom>
        </p:spPr>
      </p:pic>
      <p:sp>
        <p:nvSpPr>
          <p:cNvPr id="28" name="Text 21"/>
          <p:cNvSpPr txBox="1"/>
          <p:nvPr/>
        </p:nvSpPr>
        <p:spPr>
          <a:xfrm>
            <a:off x="5303520" y="4206240"/>
            <a:ext cx="2377440" cy="457200"/>
          </a:xfrm>
          <a:prstGeom prst="rect">
            <a:avLst/>
          </a:prstGeom>
          <a:noFill/>
          <a:ln/>
        </p:spPr>
        <p:txBody>
          <a:bodyPr wrap="square" lIns="0" tIns="0" rIns="0" bIns="0" rtlCol="0" anchor="ctr"/>
          <a:lstStyle/>
          <a:p>
            <a:pPr indent="0" marL="0">
              <a:buNone/>
            </a:pPr>
            <a:r>
              <a:rPr lang="en-US" sz="1900" b="1" dirty="0">
                <a:solidFill>
                  <a:srgbClr val="0A1A44"/>
                </a:solidFill>
                <a:latin typeface="Calibri" pitchFamily="34" charset="0"/>
                <a:ea typeface="Calibri" pitchFamily="34" charset="-122"/>
                <a:cs typeface="Calibri" pitchFamily="34" charset="-120"/>
              </a:rPr>
              <a:t>Storage</a:t>
            </a:r>
            <a:endParaRPr lang="en-US" sz="1900" dirty="0"/>
          </a:p>
        </p:txBody>
      </p:sp>
      <p:sp>
        <p:nvSpPr>
          <p:cNvPr id="29" name="Text 22"/>
          <p:cNvSpPr txBox="1"/>
          <p:nvPr/>
        </p:nvSpPr>
        <p:spPr>
          <a:xfrm>
            <a:off x="4526280" y="4846320"/>
            <a:ext cx="3108960" cy="96012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Public access blocked, ACLs disabled, versioning, TLS 1.2+ enforced, other encryption denied, PITR.</a:t>
            </a:r>
            <a:endParaRPr lang="en-US" sz="1300" dirty="0"/>
          </a:p>
        </p:txBody>
      </p:sp>
      <p:sp>
        <p:nvSpPr>
          <p:cNvPr id="30" name="Shape 23"/>
          <p:cNvSpPr/>
          <p:nvPr/>
        </p:nvSpPr>
        <p:spPr>
          <a:xfrm>
            <a:off x="8046720" y="3886200"/>
            <a:ext cx="3520440" cy="2011680"/>
          </a:xfrm>
          <a:prstGeom prst="roundRect">
            <a:avLst>
              <a:gd name="adj" fmla="val 3636"/>
            </a:avLst>
          </a:prstGeom>
          <a:solidFill>
            <a:srgbClr val="EAF1FC"/>
          </a:solidFill>
          <a:ln w="12700">
            <a:solidFill>
              <a:srgbClr val="EAF1FC"/>
            </a:solidFill>
            <a:prstDash val="solid"/>
          </a:ln>
        </p:spPr>
        <p:txBody>
          <a:bodyPr/>
          <a:p/>
        </p:txBody>
      </p:sp>
      <p:sp>
        <p:nvSpPr>
          <p:cNvPr id="31" name="Shape 24"/>
          <p:cNvSpPr/>
          <p:nvPr/>
        </p:nvSpPr>
        <p:spPr>
          <a:xfrm>
            <a:off x="8275320" y="4114800"/>
            <a:ext cx="640080" cy="640080"/>
          </a:xfrm>
          <a:prstGeom prst="ellipse">
            <a:avLst/>
          </a:prstGeom>
          <a:solidFill>
            <a:srgbClr val="0033A8"/>
          </a:solidFill>
          <a:ln w="12700">
            <a:solidFill>
              <a:srgbClr val="0033A8"/>
            </a:solidFill>
            <a:prstDash val="solid"/>
          </a:ln>
        </p:spPr>
        <p:txBody>
          <a:bodyPr/>
          <a:p/>
        </p:txBody>
      </p:sp>
      <p:pic>
        <p:nvPicPr>
          <p:cNvPr id="32" name="Image 5" descr="preencoded.png">    </p:cNvPr>
          <p:cNvPicPr>
            <a:picLocks noChangeAspect="1"/>
          </p:cNvPicPr>
          <p:nvPr/>
        </p:nvPicPr>
        <p:blipFill>
          <a:blip r:embed="rId6"/>
          <a:stretch>
            <a:fillRect/>
          </a:stretch>
        </p:blipFill>
        <p:spPr>
          <a:xfrm>
            <a:off x="8441741" y="4281221"/>
            <a:ext cx="307238" cy="307238"/>
          </a:xfrm>
          <a:prstGeom prst="rect">
            <a:avLst/>
          </a:prstGeom>
        </p:spPr>
      </p:pic>
      <p:sp>
        <p:nvSpPr>
          <p:cNvPr id="33" name="Text 25"/>
          <p:cNvSpPr txBox="1"/>
          <p:nvPr/>
        </p:nvSpPr>
        <p:spPr>
          <a:xfrm>
            <a:off x="9052560" y="4206240"/>
            <a:ext cx="2377440" cy="457200"/>
          </a:xfrm>
          <a:prstGeom prst="rect">
            <a:avLst/>
          </a:prstGeom>
          <a:noFill/>
          <a:ln/>
        </p:spPr>
        <p:txBody>
          <a:bodyPr wrap="square" lIns="0" tIns="0" rIns="0" bIns="0" rtlCol="0" anchor="ctr"/>
          <a:lstStyle/>
          <a:p>
            <a:pPr indent="0" marL="0">
              <a:buNone/>
            </a:pPr>
            <a:r>
              <a:rPr lang="en-US" sz="1900" b="1" dirty="0">
                <a:solidFill>
                  <a:srgbClr val="0A1A44"/>
                </a:solidFill>
                <a:latin typeface="Calibri" pitchFamily="34" charset="0"/>
                <a:ea typeface="Calibri" pitchFamily="34" charset="-122"/>
                <a:cs typeface="Calibri" pitchFamily="34" charset="-120"/>
              </a:rPr>
              <a:t>Input and logs</a:t>
            </a:r>
            <a:endParaRPr lang="en-US" sz="1900" dirty="0"/>
          </a:p>
        </p:txBody>
      </p:sp>
      <p:sp>
        <p:nvSpPr>
          <p:cNvPr id="34" name="Text 26"/>
          <p:cNvSpPr txBox="1"/>
          <p:nvPr/>
        </p:nvSpPr>
        <p:spPr>
          <a:xfrm>
            <a:off x="8275320" y="4846320"/>
            <a:ext cx="3108960" cy="96012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Allow-list regexes, file magic bytes, size limits. No bodies, names or tokens in any log.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indent="0" marL="0">
              <a:buNone/>
            </a:pPr>
            <a:r>
              <a:rPr lang="en-US" sz="3200" b="1" dirty="0">
                <a:solidFill>
                  <a:srgbClr val="0A1A44"/>
                </a:solidFill>
                <a:latin typeface="Calibri" pitchFamily="34" charset="0"/>
                <a:ea typeface="Calibri" pitchFamily="34" charset="-122"/>
                <a:cs typeface="Calibri" pitchFamily="34" charset="-120"/>
              </a:rPr>
              <a:t>Terraform design</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indent="0" marL="0">
              <a:buNone/>
            </a:pPr>
            <a:r>
              <a:rPr lang="en-US" sz="1500" dirty="0">
                <a:solidFill>
                  <a:srgbClr val="5B6478"/>
                </a:solidFill>
                <a:latin typeface="Calibri" pitchFamily="34" charset="0"/>
                <a:ea typeface="Calibri" pitchFamily="34" charset="-122"/>
                <a:cs typeface="Calibri" pitchFamily="34" charset="-120"/>
              </a:rPr>
              <a:t>Small modules, data-driven wiring, safe state</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48640" y="1645920"/>
            <a:ext cx="4754880" cy="4434840"/>
          </a:xfrm>
          <a:prstGeom prst="rect">
            <a:avLst/>
          </a:prstGeom>
          <a:solidFill>
            <a:srgbClr val="0A1A44"/>
          </a:solidFill>
          <a:ln w="12700">
            <a:solidFill>
              <a:srgbClr val="0A1A44"/>
            </a:solidFill>
            <a:prstDash val="solid"/>
          </a:ln>
        </p:spPr>
        <p:txBody>
          <a:bodyPr/>
          <a:p/>
        </p:txBody>
      </p:sp>
      <p:sp>
        <p:nvSpPr>
          <p:cNvPr id="6" name="Text 4"/>
          <p:cNvSpPr txBox="1"/>
          <p:nvPr/>
        </p:nvSpPr>
        <p:spPr>
          <a:xfrm>
            <a:off x="777240" y="1874520"/>
            <a:ext cx="4389120" cy="4114800"/>
          </a:xfrm>
          <a:prstGeom prst="rect">
            <a:avLst/>
          </a:prstGeom>
          <a:noFill/>
          <a:ln/>
        </p:spPr>
        <p:txBody>
          <a:bodyPr wrap="square" lIns="0" tIns="0" rIns="0" bIns="0" rtlCol="0" anchor="t"/>
          <a:lstStyle/>
          <a:p>
            <a:pPr indent="0" marL="0">
              <a:buNone/>
            </a:pPr>
            <a:r>
              <a:rPr lang="en-US" sz="1400" dirty="0">
                <a:solidFill>
                  <a:srgbClr val="8FA6D6"/>
                </a:solidFill>
                <a:latin typeface="Courier New" pitchFamily="34" charset="0"/>
                <a:ea typeface="Courier New" pitchFamily="34" charset="-122"/>
                <a:cs typeface="Courier New" pitchFamily="34" charset="-120"/>
              </a:rPr>
              <a:t>bootstrap/        # state bucket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infra/</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main.tf        # module wiring</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iam.tf         # IAM of the function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modules/</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 s3_bucket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 dynamodb_table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 cognito</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 lambda_function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 api_gateway</a:t>
            </a:r>
            <a:endParaRPr lang="en-US" sz="1400" dirty="0"/>
          </a:p>
          <a:p>
            <a:pPr indent="0" marL="0">
              <a:buNone/>
            </a:pPr>
            <a:r>
              <a:rPr lang="en-US" sz="1400" dirty="0">
                <a:solidFill>
                  <a:srgbClr val="8FA6D6"/>
                </a:solidFill>
                <a:latin typeface="Courier New" pitchFamily="34" charset="0"/>
                <a:ea typeface="Courier New" pitchFamily="34" charset="-122"/>
                <a:cs typeface="Courier New" pitchFamily="34" charset="-120"/>
              </a:rPr>
              <a:t>app/src/  scripts/  postman/</a:t>
            </a:r>
            <a:endParaRPr lang="en-US" sz="1400" dirty="0"/>
          </a:p>
        </p:txBody>
      </p:sp>
      <p:sp>
        <p:nvSpPr>
          <p:cNvPr id="7" name="Text 5"/>
          <p:cNvSpPr txBox="1"/>
          <p:nvPr/>
        </p:nvSpPr>
        <p:spPr>
          <a:xfrm>
            <a:off x="5669280" y="1645920"/>
            <a:ext cx="2103120" cy="640080"/>
          </a:xfrm>
          <a:prstGeom prst="rect">
            <a:avLst/>
          </a:prstGeom>
          <a:noFill/>
          <a:ln/>
        </p:spPr>
        <p:txBody>
          <a:bodyPr wrap="square" lIns="0" tIns="0" rIns="0" bIns="0" rtlCol="0" anchor="t"/>
          <a:lstStyle/>
          <a:p>
            <a:pPr indent="0" marL="0">
              <a:buNone/>
            </a:pPr>
            <a:r>
              <a:rPr lang="en-US" sz="1500" b="1" dirty="0">
                <a:solidFill>
                  <a:srgbClr val="0A1A44"/>
                </a:solidFill>
                <a:latin typeface="Calibri" pitchFamily="34" charset="0"/>
                <a:ea typeface="Calibri" pitchFamily="34" charset="-122"/>
                <a:cs typeface="Calibri" pitchFamily="34" charset="-120"/>
              </a:rPr>
              <a:t>Data-driven</a:t>
            </a:r>
            <a:endParaRPr lang="en-US" sz="1500" dirty="0"/>
          </a:p>
        </p:txBody>
      </p:sp>
      <p:sp>
        <p:nvSpPr>
          <p:cNvPr id="8" name="Text 6"/>
          <p:cNvSpPr txBox="1"/>
          <p:nvPr/>
        </p:nvSpPr>
        <p:spPr>
          <a:xfrm>
            <a:off x="7772400" y="1645920"/>
            <a:ext cx="3886200" cy="68580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Routes and scopes are maps expanded with for_each. A new route is one entry.</a:t>
            </a:r>
            <a:endParaRPr lang="en-US" sz="1300" dirty="0"/>
          </a:p>
        </p:txBody>
      </p:sp>
      <p:sp>
        <p:nvSpPr>
          <p:cNvPr id="9" name="Text 7"/>
          <p:cNvSpPr txBox="1"/>
          <p:nvPr/>
        </p:nvSpPr>
        <p:spPr>
          <a:xfrm>
            <a:off x="5669280" y="2404872"/>
            <a:ext cx="2103120" cy="640080"/>
          </a:xfrm>
          <a:prstGeom prst="rect">
            <a:avLst/>
          </a:prstGeom>
          <a:noFill/>
          <a:ln/>
        </p:spPr>
        <p:txBody>
          <a:bodyPr wrap="square" lIns="0" tIns="0" rIns="0" bIns="0" rtlCol="0" anchor="t"/>
          <a:lstStyle/>
          <a:p>
            <a:pPr indent="0" marL="0">
              <a:buNone/>
            </a:pPr>
            <a:r>
              <a:rPr lang="en-US" sz="1500" b="1" dirty="0">
                <a:solidFill>
                  <a:srgbClr val="0A1A44"/>
                </a:solidFill>
                <a:latin typeface="Calibri" pitchFamily="34" charset="0"/>
                <a:ea typeface="Calibri" pitchFamily="34" charset="-122"/>
                <a:cs typeface="Calibri" pitchFamily="34" charset="-120"/>
              </a:rPr>
              <a:t>Validated inputs</a:t>
            </a:r>
            <a:endParaRPr lang="en-US" sz="1500" dirty="0"/>
          </a:p>
        </p:txBody>
      </p:sp>
      <p:sp>
        <p:nvSpPr>
          <p:cNvPr id="10" name="Text 8"/>
          <p:cNvSpPr txBox="1"/>
          <p:nvPr/>
        </p:nvSpPr>
        <p:spPr>
          <a:xfrm>
            <a:off x="7772400" y="2404872"/>
            <a:ext cx="3886200" cy="68580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Typed variables with validation blocks. No hard-coded account, region or partition.</a:t>
            </a:r>
            <a:endParaRPr lang="en-US" sz="1300" dirty="0"/>
          </a:p>
        </p:txBody>
      </p:sp>
      <p:sp>
        <p:nvSpPr>
          <p:cNvPr id="11" name="Text 9"/>
          <p:cNvSpPr txBox="1"/>
          <p:nvPr/>
        </p:nvSpPr>
        <p:spPr>
          <a:xfrm>
            <a:off x="5669280" y="3163824"/>
            <a:ext cx="2103120" cy="640080"/>
          </a:xfrm>
          <a:prstGeom prst="rect">
            <a:avLst/>
          </a:prstGeom>
          <a:noFill/>
          <a:ln/>
        </p:spPr>
        <p:txBody>
          <a:bodyPr wrap="square" lIns="0" tIns="0" rIns="0" bIns="0" rtlCol="0" anchor="t"/>
          <a:lstStyle/>
          <a:p>
            <a:pPr indent="0" marL="0">
              <a:buNone/>
            </a:pPr>
            <a:r>
              <a:rPr lang="en-US" sz="1500" b="1" dirty="0">
                <a:solidFill>
                  <a:srgbClr val="0A1A44"/>
                </a:solidFill>
                <a:latin typeface="Calibri" pitchFamily="34" charset="0"/>
                <a:ea typeface="Calibri" pitchFamily="34" charset="-122"/>
                <a:cs typeface="Calibri" pitchFamily="34" charset="-120"/>
              </a:rPr>
              <a:t>Safe state</a:t>
            </a:r>
            <a:endParaRPr lang="en-US" sz="1500" dirty="0"/>
          </a:p>
        </p:txBody>
      </p:sp>
      <p:sp>
        <p:nvSpPr>
          <p:cNvPr id="12" name="Text 10"/>
          <p:cNvSpPr txBox="1"/>
          <p:nvPr/>
        </p:nvSpPr>
        <p:spPr>
          <a:xfrm>
            <a:off x="7772400" y="3163824"/>
            <a:ext cx="3886200" cy="68580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Remote S3 state, versioned and encrypted, with native lock files (Terraform ≥ 1.10). No DynamoDB lock table.</a:t>
            </a:r>
            <a:endParaRPr lang="en-US" sz="1300" dirty="0"/>
          </a:p>
        </p:txBody>
      </p:sp>
      <p:sp>
        <p:nvSpPr>
          <p:cNvPr id="13" name="Text 11"/>
          <p:cNvSpPr txBox="1"/>
          <p:nvPr/>
        </p:nvSpPr>
        <p:spPr>
          <a:xfrm>
            <a:off x="5669280" y="3922776"/>
            <a:ext cx="2103120" cy="640080"/>
          </a:xfrm>
          <a:prstGeom prst="rect">
            <a:avLst/>
          </a:prstGeom>
          <a:noFill/>
          <a:ln/>
        </p:spPr>
        <p:txBody>
          <a:bodyPr wrap="square" lIns="0" tIns="0" rIns="0" bIns="0" rtlCol="0" anchor="t"/>
          <a:lstStyle/>
          <a:p>
            <a:pPr indent="0" marL="0">
              <a:buNone/>
            </a:pPr>
            <a:r>
              <a:rPr lang="en-US" sz="1500" b="1" dirty="0">
                <a:solidFill>
                  <a:srgbClr val="0A1A44"/>
                </a:solidFill>
                <a:latin typeface="Calibri" pitchFamily="34" charset="0"/>
                <a:ea typeface="Calibri" pitchFamily="34" charset="-122"/>
                <a:cs typeface="Calibri" pitchFamily="34" charset="-120"/>
              </a:rPr>
              <a:t>Zero-downtime API</a:t>
            </a:r>
            <a:endParaRPr lang="en-US" sz="1500" dirty="0"/>
          </a:p>
        </p:txBody>
      </p:sp>
      <p:sp>
        <p:nvSpPr>
          <p:cNvPr id="14" name="Text 12"/>
          <p:cNvSpPr txBox="1"/>
          <p:nvPr/>
        </p:nvSpPr>
        <p:spPr>
          <a:xfrm>
            <a:off x="7772400" y="3922776"/>
            <a:ext cx="3886200" cy="68580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Redeploy triggered by a hash of the API definition, with create_before_destroy.</a:t>
            </a:r>
            <a:endParaRPr lang="en-US" sz="1300" dirty="0"/>
          </a:p>
        </p:txBody>
      </p:sp>
      <p:sp>
        <p:nvSpPr>
          <p:cNvPr id="15" name="Text 13"/>
          <p:cNvSpPr txBox="1"/>
          <p:nvPr/>
        </p:nvSpPr>
        <p:spPr>
          <a:xfrm>
            <a:off x="5669280" y="4681728"/>
            <a:ext cx="2103120" cy="640080"/>
          </a:xfrm>
          <a:prstGeom prst="rect">
            <a:avLst/>
          </a:prstGeom>
          <a:noFill/>
          <a:ln/>
        </p:spPr>
        <p:txBody>
          <a:bodyPr wrap="square" lIns="0" tIns="0" rIns="0" bIns="0" rtlCol="0" anchor="t"/>
          <a:lstStyle/>
          <a:p>
            <a:pPr indent="0" marL="0">
              <a:buNone/>
            </a:pPr>
            <a:r>
              <a:rPr lang="en-US" sz="1500" b="1" dirty="0">
                <a:solidFill>
                  <a:srgbClr val="0A1A44"/>
                </a:solidFill>
                <a:latin typeface="Calibri" pitchFamily="34" charset="0"/>
                <a:ea typeface="Calibri" pitchFamily="34" charset="-122"/>
                <a:cs typeface="Calibri" pitchFamily="34" charset="-120"/>
              </a:rPr>
              <a:t>Governed</a:t>
            </a:r>
            <a:endParaRPr lang="en-US" sz="1500" dirty="0"/>
          </a:p>
        </p:txBody>
      </p:sp>
      <p:sp>
        <p:nvSpPr>
          <p:cNvPr id="16" name="Text 14"/>
          <p:cNvSpPr txBox="1"/>
          <p:nvPr/>
        </p:nvSpPr>
        <p:spPr>
          <a:xfrm>
            <a:off x="7772400" y="4681728"/>
            <a:ext cx="3886200" cy="685800"/>
          </a:xfrm>
          <a:prstGeom prst="rect">
            <a:avLst/>
          </a:prstGeom>
          <a:noFill/>
          <a:ln/>
        </p:spPr>
        <p:txBody>
          <a:bodyPr wrap="square" lIns="0" tIns="0" rIns="0" bIns="0" rtlCol="0" anchor="t"/>
          <a:lstStyle/>
          <a:p>
            <a:pPr indent="0" marL="0">
              <a:buNone/>
            </a:pPr>
            <a:r>
              <a:rPr lang="en-US" sz="1300" dirty="0">
                <a:solidFill>
                  <a:srgbClr val="1B2233"/>
                </a:solidFill>
                <a:latin typeface="Calibri" pitchFamily="34" charset="0"/>
                <a:ea typeface="Calibri" pitchFamily="34" charset="-122"/>
                <a:cs typeface="Calibri" pitchFamily="34" charset="-120"/>
              </a:rPr>
              <a:t>default_tags everywhere, pinned providers, pre-created log group with retention.</a:t>
            </a:r>
            <a:endParaRPr lang="en-US" sz="1300" dirty="0"/>
          </a:p>
        </p:txBody>
      </p:sp>
      <p:sp>
        <p:nvSpPr>
          <p:cNvPr id="17" name="Shape 15"/>
          <p:cNvSpPr/>
          <p:nvPr/>
        </p:nvSpPr>
        <p:spPr>
          <a:xfrm>
            <a:off x="5669280" y="5486400"/>
            <a:ext cx="5989320" cy="685800"/>
          </a:xfrm>
          <a:prstGeom prst="roundRect">
            <a:avLst>
              <a:gd name="adj" fmla="val 10667"/>
            </a:avLst>
          </a:prstGeom>
          <a:solidFill>
            <a:srgbClr val="EAF1FC"/>
          </a:solidFill>
          <a:ln w="12700">
            <a:solidFill>
              <a:srgbClr val="EAF1FC"/>
            </a:solidFill>
            <a:prstDash val="solid"/>
          </a:ln>
        </p:spPr>
        <p:txBody>
          <a:bodyPr/>
          <a:p/>
        </p:txBody>
      </p:sp>
      <p:sp>
        <p:nvSpPr>
          <p:cNvPr id="18" name="Text 16"/>
          <p:cNvSpPr txBox="1"/>
          <p:nvPr/>
        </p:nvSpPr>
        <p:spPr>
          <a:xfrm>
            <a:off x="5897880" y="5486400"/>
            <a:ext cx="5669280" cy="685800"/>
          </a:xfrm>
          <a:prstGeom prst="rect">
            <a:avLst/>
          </a:prstGeom>
          <a:noFill/>
          <a:ln/>
        </p:spPr>
        <p:txBody>
          <a:bodyPr wrap="square" lIns="0" tIns="0" rIns="0" bIns="0" rtlCol="0" anchor="ctr"/>
          <a:lstStyle/>
          <a:p>
            <a:pPr indent="0" marL="0">
              <a:buNone/>
            </a:pPr>
            <a:r>
              <a:rPr lang="en-US" sz="1500" b="1" dirty="0">
                <a:solidFill>
                  <a:srgbClr val="0A1A44"/>
                </a:solidFill>
                <a:latin typeface="Calibri" pitchFamily="34" charset="0"/>
                <a:ea typeface="Calibri" pitchFamily="34" charset="-122"/>
                <a:cs typeface="Calibri" pitchFamily="34" charset="-120"/>
              </a:rPr>
              <a:t>checkov  </a:t>
            </a:r>
            <a:pPr indent="0" marL="0">
              <a:buNone/>
            </a:pPr>
            <a:r>
              <a:rPr lang="en-US" sz="1500" b="1" dirty="0">
                <a:solidFill>
                  <a:srgbClr val="12966B"/>
                </a:solidFill>
                <a:latin typeface="Calibri" pitchFamily="34" charset="0"/>
                <a:ea typeface="Calibri" pitchFamily="34" charset="-122"/>
                <a:cs typeface="Calibri" pitchFamily="34" charset="-120"/>
              </a:rPr>
              <a:t>84 passed · 0 failed</a:t>
            </a:r>
            <a:pPr indent="0" marL="0">
              <a:buNone/>
            </a:pPr>
            <a:r>
              <a:rPr lang="en-US" sz="1500" dirty="0">
                <a:solidFill>
                  <a:srgbClr val="5B6478"/>
                </a:solidFill>
                <a:latin typeface="Calibri" pitchFamily="34" charset="0"/>
                <a:ea typeface="Calibri" pitchFamily="34" charset="-122"/>
                <a:cs typeface="Calibri" pitchFamily="34" charset="-120"/>
              </a:rPr>
              <a:t>  ·  20 documented design exceptions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indent="0" marL="0">
              <a:buNone/>
            </a:pPr>
            <a:r>
              <a:rPr lang="en-US" sz="3200" b="1" dirty="0">
                <a:solidFill>
                  <a:srgbClr val="0A1A44"/>
                </a:solidFill>
                <a:latin typeface="Calibri" pitchFamily="34" charset="0"/>
                <a:ea typeface="Calibri" pitchFamily="34" charset="-122"/>
                <a:cs typeface="Calibri" pitchFamily="34" charset="-120"/>
              </a:rPr>
              <a:t>Limits and operating constraints</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indent="0" marL="0">
              <a:buNone/>
            </a:pPr>
            <a:r>
              <a:rPr lang="en-US" sz="1500" dirty="0">
                <a:solidFill>
                  <a:srgbClr val="5B6478"/>
                </a:solidFill>
                <a:latin typeface="Calibri" pitchFamily="34" charset="0"/>
                <a:ea typeface="Calibri" pitchFamily="34" charset="-122"/>
                <a:cs typeface="Calibri" pitchFamily="34" charset="-120"/>
              </a:rPr>
              <a:t>Default AWS quotas and what they mean for this API</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48640" y="1645920"/>
            <a:ext cx="3520440" cy="1737360"/>
          </a:xfrm>
          <a:prstGeom prst="roundRect">
            <a:avLst>
              <a:gd name="adj" fmla="val 4211"/>
            </a:avLst>
          </a:prstGeom>
          <a:solidFill>
            <a:srgbClr val="EAF1FC"/>
          </a:solidFill>
          <a:ln w="12700">
            <a:solidFill>
              <a:srgbClr val="EAF1FC"/>
            </a:solidFill>
            <a:prstDash val="solid"/>
          </a:ln>
        </p:spPr>
        <p:txBody>
          <a:bodyPr/>
          <a:p/>
        </p:txBody>
      </p:sp>
      <p:sp>
        <p:nvSpPr>
          <p:cNvPr id="6" name="Text 4"/>
          <p:cNvSpPr txBox="1"/>
          <p:nvPr/>
        </p:nvSpPr>
        <p:spPr>
          <a:xfrm>
            <a:off x="777240" y="1783080"/>
            <a:ext cx="3108960" cy="685800"/>
          </a:xfrm>
          <a:prstGeom prst="rect">
            <a:avLst/>
          </a:prstGeom>
          <a:noFill/>
          <a:ln/>
        </p:spPr>
        <p:txBody>
          <a:bodyPr wrap="square" lIns="0" tIns="0" rIns="0" bIns="0" rtlCol="0" anchor="ctr"/>
          <a:lstStyle/>
          <a:p>
            <a:pPr indent="0" marL="0">
              <a:buNone/>
            </a:pPr>
            <a:r>
              <a:rPr lang="en-US" sz="3600" b="1" dirty="0">
                <a:solidFill>
                  <a:srgbClr val="0033A8"/>
                </a:solidFill>
                <a:latin typeface="Calibri" pitchFamily="34" charset="0"/>
                <a:ea typeface="Calibri" pitchFamily="34" charset="-122"/>
                <a:cs typeface="Calibri" pitchFamily="34" charset="-120"/>
              </a:rPr>
              <a:t>4 MB</a:t>
            </a:r>
            <a:endParaRPr lang="en-US" sz="3600" dirty="0"/>
          </a:p>
        </p:txBody>
      </p:sp>
      <p:sp>
        <p:nvSpPr>
          <p:cNvPr id="7" name="Text 5"/>
          <p:cNvSpPr txBox="1"/>
          <p:nvPr/>
        </p:nvSpPr>
        <p:spPr>
          <a:xfrm>
            <a:off x="777240" y="2423160"/>
            <a:ext cx="3108960" cy="274320"/>
          </a:xfrm>
          <a:prstGeom prst="rect">
            <a:avLst/>
          </a:prstGeom>
          <a:noFill/>
          <a:ln/>
        </p:spPr>
        <p:txBody>
          <a:bodyPr wrap="square" lIns="0" tIns="0" rIns="0" bIns="0" rtlCol="0" anchor="ctr"/>
          <a:lstStyle/>
          <a:p>
            <a:pPr indent="0" marL="0">
              <a:buNone/>
            </a:pPr>
            <a:r>
              <a:rPr lang="en-US" sz="1300" b="1" dirty="0">
                <a:solidFill>
                  <a:srgbClr val="0A1A44"/>
                </a:solidFill>
                <a:latin typeface="Calibri" pitchFamily="34" charset="0"/>
                <a:ea typeface="Calibri" pitchFamily="34" charset="-122"/>
                <a:cs typeface="Calibri" pitchFamily="34" charset="-120"/>
              </a:rPr>
              <a:t>max resume</a:t>
            </a:r>
            <a:endParaRPr lang="en-US" sz="1300" dirty="0"/>
          </a:p>
        </p:txBody>
      </p:sp>
      <p:sp>
        <p:nvSpPr>
          <p:cNvPr id="8" name="Text 6"/>
          <p:cNvSpPr txBox="1"/>
          <p:nvPr/>
        </p:nvSpPr>
        <p:spPr>
          <a:xfrm>
            <a:off x="777240" y="2697480"/>
            <a:ext cx="3108960" cy="64008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6 MB Lambda payload, minus 33% for base64 (API Gateway hard limit: 10 MB)</a:t>
            </a:r>
            <a:endParaRPr lang="en-US" sz="1200" dirty="0"/>
          </a:p>
        </p:txBody>
      </p:sp>
      <p:sp>
        <p:nvSpPr>
          <p:cNvPr id="9" name="Shape 7"/>
          <p:cNvSpPr/>
          <p:nvPr/>
        </p:nvSpPr>
        <p:spPr>
          <a:xfrm>
            <a:off x="4297680" y="1645920"/>
            <a:ext cx="3520440" cy="1737360"/>
          </a:xfrm>
          <a:prstGeom prst="roundRect">
            <a:avLst>
              <a:gd name="adj" fmla="val 4211"/>
            </a:avLst>
          </a:prstGeom>
          <a:solidFill>
            <a:srgbClr val="EAF1FC"/>
          </a:solidFill>
          <a:ln w="12700">
            <a:solidFill>
              <a:srgbClr val="EAF1FC"/>
            </a:solidFill>
            <a:prstDash val="solid"/>
          </a:ln>
        </p:spPr>
        <p:txBody>
          <a:bodyPr/>
          <a:p/>
        </p:txBody>
      </p:sp>
      <p:sp>
        <p:nvSpPr>
          <p:cNvPr id="10" name="Text 8"/>
          <p:cNvSpPr txBox="1"/>
          <p:nvPr/>
        </p:nvSpPr>
        <p:spPr>
          <a:xfrm>
            <a:off x="4526280" y="1783080"/>
            <a:ext cx="3108960" cy="685800"/>
          </a:xfrm>
          <a:prstGeom prst="rect">
            <a:avLst/>
          </a:prstGeom>
          <a:noFill/>
          <a:ln/>
        </p:spPr>
        <p:txBody>
          <a:bodyPr wrap="square" lIns="0" tIns="0" rIns="0" bIns="0" rtlCol="0" anchor="ctr"/>
          <a:lstStyle/>
          <a:p>
            <a:pPr indent="0" marL="0">
              <a:buNone/>
            </a:pPr>
            <a:r>
              <a:rPr lang="en-US" sz="3600" b="1" dirty="0">
                <a:solidFill>
                  <a:srgbClr val="0033A8"/>
                </a:solidFill>
                <a:latin typeface="Calibri" pitchFamily="34" charset="0"/>
                <a:ea typeface="Calibri" pitchFamily="34" charset="-122"/>
                <a:cs typeface="Calibri" pitchFamily="34" charset="-120"/>
              </a:rPr>
              <a:t>29 s</a:t>
            </a:r>
            <a:endParaRPr lang="en-US" sz="3600" dirty="0"/>
          </a:p>
        </p:txBody>
      </p:sp>
      <p:sp>
        <p:nvSpPr>
          <p:cNvPr id="11" name="Text 9"/>
          <p:cNvSpPr txBox="1"/>
          <p:nvPr/>
        </p:nvSpPr>
        <p:spPr>
          <a:xfrm>
            <a:off x="4526280" y="2423160"/>
            <a:ext cx="3108960" cy="274320"/>
          </a:xfrm>
          <a:prstGeom prst="rect">
            <a:avLst/>
          </a:prstGeom>
          <a:noFill/>
          <a:ln/>
        </p:spPr>
        <p:txBody>
          <a:bodyPr wrap="square" lIns="0" tIns="0" rIns="0" bIns="0" rtlCol="0" anchor="ctr"/>
          <a:lstStyle/>
          <a:p>
            <a:pPr indent="0" marL="0">
              <a:buNone/>
            </a:pPr>
            <a:r>
              <a:rPr lang="en-US" sz="1300" b="1" dirty="0">
                <a:solidFill>
                  <a:srgbClr val="0A1A44"/>
                </a:solidFill>
                <a:latin typeface="Calibri" pitchFamily="34" charset="0"/>
                <a:ea typeface="Calibri" pitchFamily="34" charset="-122"/>
                <a:cs typeface="Calibri" pitchFamily="34" charset="-120"/>
              </a:rPr>
              <a:t>gateway timeout</a:t>
            </a:r>
            <a:endParaRPr lang="en-US" sz="1300" dirty="0"/>
          </a:p>
        </p:txBody>
      </p:sp>
      <p:sp>
        <p:nvSpPr>
          <p:cNvPr id="12" name="Text 10"/>
          <p:cNvSpPr txBox="1"/>
          <p:nvPr/>
        </p:nvSpPr>
        <p:spPr>
          <a:xfrm>
            <a:off x="4526280" y="2697480"/>
            <a:ext cx="3108960" cy="64008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Lambda timeout set to 15 s to fail cleanly first</a:t>
            </a:r>
            <a:endParaRPr lang="en-US" sz="1200" dirty="0"/>
          </a:p>
        </p:txBody>
      </p:sp>
      <p:sp>
        <p:nvSpPr>
          <p:cNvPr id="13" name="Shape 11"/>
          <p:cNvSpPr/>
          <p:nvPr/>
        </p:nvSpPr>
        <p:spPr>
          <a:xfrm>
            <a:off x="8046720" y="1645920"/>
            <a:ext cx="3520440" cy="1737360"/>
          </a:xfrm>
          <a:prstGeom prst="roundRect">
            <a:avLst>
              <a:gd name="adj" fmla="val 4211"/>
            </a:avLst>
          </a:prstGeom>
          <a:solidFill>
            <a:srgbClr val="EAF1FC"/>
          </a:solidFill>
          <a:ln w="12700">
            <a:solidFill>
              <a:srgbClr val="EAF1FC"/>
            </a:solidFill>
            <a:prstDash val="solid"/>
          </a:ln>
        </p:spPr>
        <p:txBody>
          <a:bodyPr/>
          <a:p/>
        </p:txBody>
      </p:sp>
      <p:sp>
        <p:nvSpPr>
          <p:cNvPr id="14" name="Text 12"/>
          <p:cNvSpPr txBox="1"/>
          <p:nvPr/>
        </p:nvSpPr>
        <p:spPr>
          <a:xfrm>
            <a:off x="8275320" y="1783080"/>
            <a:ext cx="3108960" cy="685800"/>
          </a:xfrm>
          <a:prstGeom prst="rect">
            <a:avLst/>
          </a:prstGeom>
          <a:noFill/>
          <a:ln/>
        </p:spPr>
        <p:txBody>
          <a:bodyPr wrap="square" lIns="0" tIns="0" rIns="0" bIns="0" rtlCol="0" anchor="ctr"/>
          <a:lstStyle/>
          <a:p>
            <a:pPr indent="0" marL="0">
              <a:buNone/>
            </a:pPr>
            <a:r>
              <a:rPr lang="en-US" sz="3600" b="1" dirty="0">
                <a:solidFill>
                  <a:srgbClr val="0033A8"/>
                </a:solidFill>
                <a:latin typeface="Calibri" pitchFamily="34" charset="0"/>
                <a:ea typeface="Calibri" pitchFamily="34" charset="-122"/>
                <a:cs typeface="Calibri" pitchFamily="34" charset="-120"/>
              </a:rPr>
              <a:t>~1,000/s</a:t>
            </a:r>
            <a:endParaRPr lang="en-US" sz="3600" dirty="0"/>
          </a:p>
        </p:txBody>
      </p:sp>
      <p:sp>
        <p:nvSpPr>
          <p:cNvPr id="15" name="Text 13"/>
          <p:cNvSpPr txBox="1"/>
          <p:nvPr/>
        </p:nvSpPr>
        <p:spPr>
          <a:xfrm>
            <a:off x="8275320" y="2423160"/>
            <a:ext cx="3108960" cy="274320"/>
          </a:xfrm>
          <a:prstGeom prst="rect">
            <a:avLst/>
          </a:prstGeom>
          <a:noFill/>
          <a:ln/>
        </p:spPr>
        <p:txBody>
          <a:bodyPr wrap="square" lIns="0" tIns="0" rIns="0" bIns="0" rtlCol="0" anchor="ctr"/>
          <a:lstStyle/>
          <a:p>
            <a:pPr indent="0" marL="0">
              <a:buNone/>
            </a:pPr>
            <a:r>
              <a:rPr lang="en-US" sz="1300" b="1" dirty="0">
                <a:solidFill>
                  <a:srgbClr val="0A1A44"/>
                </a:solidFill>
                <a:latin typeface="Calibri" pitchFamily="34" charset="0"/>
                <a:ea typeface="Calibri" pitchFamily="34" charset="-122"/>
                <a:cs typeface="Calibri" pitchFamily="34" charset="-120"/>
              </a:rPr>
              <a:t>creations</a:t>
            </a:r>
            <a:endParaRPr lang="en-US" sz="1300" dirty="0"/>
          </a:p>
        </p:txBody>
      </p:sp>
      <p:sp>
        <p:nvSpPr>
          <p:cNvPr id="16" name="Text 14"/>
          <p:cNvSpPr txBox="1"/>
          <p:nvPr/>
        </p:nvSpPr>
        <p:spPr>
          <a:xfrm>
            <a:off x="8275320" y="2697480"/>
            <a:ext cx="3108960" cy="64008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The sequence counter is one hot item (1,000 WCU per partition)</a:t>
            </a:r>
            <a:endParaRPr lang="en-US" sz="1200" dirty="0"/>
          </a:p>
        </p:txBody>
      </p:sp>
      <p:sp>
        <p:nvSpPr>
          <p:cNvPr id="17" name="Shape 15"/>
          <p:cNvSpPr/>
          <p:nvPr/>
        </p:nvSpPr>
        <p:spPr>
          <a:xfrm>
            <a:off x="548640" y="3566160"/>
            <a:ext cx="3520440" cy="1737360"/>
          </a:xfrm>
          <a:prstGeom prst="roundRect">
            <a:avLst>
              <a:gd name="adj" fmla="val 4211"/>
            </a:avLst>
          </a:prstGeom>
          <a:solidFill>
            <a:srgbClr val="EAF1FC"/>
          </a:solidFill>
          <a:ln w="12700">
            <a:solidFill>
              <a:srgbClr val="EAF1FC"/>
            </a:solidFill>
            <a:prstDash val="solid"/>
          </a:ln>
        </p:spPr>
        <p:txBody>
          <a:bodyPr/>
          <a:p/>
        </p:txBody>
      </p:sp>
      <p:sp>
        <p:nvSpPr>
          <p:cNvPr id="18" name="Text 16"/>
          <p:cNvSpPr txBox="1"/>
          <p:nvPr/>
        </p:nvSpPr>
        <p:spPr>
          <a:xfrm>
            <a:off x="777240" y="3703320"/>
            <a:ext cx="3108960" cy="685800"/>
          </a:xfrm>
          <a:prstGeom prst="rect">
            <a:avLst/>
          </a:prstGeom>
          <a:noFill/>
          <a:ln/>
        </p:spPr>
        <p:txBody>
          <a:bodyPr wrap="square" lIns="0" tIns="0" rIns="0" bIns="0" rtlCol="0" anchor="ctr"/>
          <a:lstStyle/>
          <a:p>
            <a:pPr indent="0" marL="0">
              <a:buNone/>
            </a:pPr>
            <a:r>
              <a:rPr lang="en-US" sz="3600" b="1" dirty="0">
                <a:solidFill>
                  <a:srgbClr val="0033A8"/>
                </a:solidFill>
                <a:latin typeface="Calibri" pitchFamily="34" charset="0"/>
                <a:ea typeface="Calibri" pitchFamily="34" charset="-122"/>
                <a:cs typeface="Calibri" pitchFamily="34" charset="-120"/>
              </a:rPr>
              <a:t>400 KB</a:t>
            </a:r>
            <a:endParaRPr lang="en-US" sz="3600" dirty="0"/>
          </a:p>
        </p:txBody>
      </p:sp>
      <p:sp>
        <p:nvSpPr>
          <p:cNvPr id="19" name="Text 17"/>
          <p:cNvSpPr txBox="1"/>
          <p:nvPr/>
        </p:nvSpPr>
        <p:spPr>
          <a:xfrm>
            <a:off x="777240" y="4343400"/>
            <a:ext cx="3108960" cy="274320"/>
          </a:xfrm>
          <a:prstGeom prst="rect">
            <a:avLst/>
          </a:prstGeom>
          <a:noFill/>
          <a:ln/>
        </p:spPr>
        <p:txBody>
          <a:bodyPr wrap="square" lIns="0" tIns="0" rIns="0" bIns="0" rtlCol="0" anchor="ctr"/>
          <a:lstStyle/>
          <a:p>
            <a:pPr indent="0" marL="0">
              <a:buNone/>
            </a:pPr>
            <a:r>
              <a:rPr lang="en-US" sz="1300" b="1" dirty="0">
                <a:solidFill>
                  <a:srgbClr val="0A1A44"/>
                </a:solidFill>
                <a:latin typeface="Calibri" pitchFamily="34" charset="0"/>
                <a:ea typeface="Calibri" pitchFamily="34" charset="-122"/>
                <a:cs typeface="Calibri" pitchFamily="34" charset="-120"/>
              </a:rPr>
              <a:t>per item</a:t>
            </a:r>
            <a:endParaRPr lang="en-US" sz="1300" dirty="0"/>
          </a:p>
        </p:txBody>
      </p:sp>
      <p:sp>
        <p:nvSpPr>
          <p:cNvPr id="20" name="Text 18"/>
          <p:cNvSpPr txBox="1"/>
          <p:nvPr/>
        </p:nvSpPr>
        <p:spPr>
          <a:xfrm>
            <a:off x="777240" y="4617720"/>
            <a:ext cx="3108960" cy="64008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Metadata only in DynamoDB, files live in S3</a:t>
            </a:r>
            <a:endParaRPr lang="en-US" sz="1200" dirty="0"/>
          </a:p>
        </p:txBody>
      </p:sp>
      <p:sp>
        <p:nvSpPr>
          <p:cNvPr id="21" name="Shape 19"/>
          <p:cNvSpPr/>
          <p:nvPr/>
        </p:nvSpPr>
        <p:spPr>
          <a:xfrm>
            <a:off x="4297680" y="3566160"/>
            <a:ext cx="3520440" cy="1737360"/>
          </a:xfrm>
          <a:prstGeom prst="roundRect">
            <a:avLst>
              <a:gd name="adj" fmla="val 4211"/>
            </a:avLst>
          </a:prstGeom>
          <a:solidFill>
            <a:srgbClr val="EAF1FC"/>
          </a:solidFill>
          <a:ln w="12700">
            <a:solidFill>
              <a:srgbClr val="EAF1FC"/>
            </a:solidFill>
            <a:prstDash val="solid"/>
          </a:ln>
        </p:spPr>
        <p:txBody>
          <a:bodyPr/>
          <a:p/>
        </p:txBody>
      </p:sp>
      <p:sp>
        <p:nvSpPr>
          <p:cNvPr id="22" name="Text 20"/>
          <p:cNvSpPr txBox="1"/>
          <p:nvPr/>
        </p:nvSpPr>
        <p:spPr>
          <a:xfrm>
            <a:off x="4526280" y="3703320"/>
            <a:ext cx="3108960" cy="685800"/>
          </a:xfrm>
          <a:prstGeom prst="rect">
            <a:avLst/>
          </a:prstGeom>
          <a:noFill/>
          <a:ln/>
        </p:spPr>
        <p:txBody>
          <a:bodyPr wrap="square" lIns="0" tIns="0" rIns="0" bIns="0" rtlCol="0" anchor="ctr"/>
          <a:lstStyle/>
          <a:p>
            <a:pPr indent="0" marL="0">
              <a:buNone/>
            </a:pPr>
            <a:r>
              <a:rPr lang="en-US" sz="3600" b="1" dirty="0">
                <a:solidFill>
                  <a:srgbClr val="0033A8"/>
                </a:solidFill>
                <a:latin typeface="Calibri" pitchFamily="34" charset="0"/>
                <a:ea typeface="Calibri" pitchFamily="34" charset="-122"/>
                <a:cs typeface="Calibri" pitchFamily="34" charset="-120"/>
              </a:rPr>
              <a:t>1,000</a:t>
            </a:r>
            <a:endParaRPr lang="en-US" sz="3600" dirty="0"/>
          </a:p>
        </p:txBody>
      </p:sp>
      <p:sp>
        <p:nvSpPr>
          <p:cNvPr id="23" name="Text 21"/>
          <p:cNvSpPr txBox="1"/>
          <p:nvPr/>
        </p:nvSpPr>
        <p:spPr>
          <a:xfrm>
            <a:off x="4526280" y="4343400"/>
            <a:ext cx="3108960" cy="274320"/>
          </a:xfrm>
          <a:prstGeom prst="rect">
            <a:avLst/>
          </a:prstGeom>
          <a:noFill/>
          <a:ln/>
        </p:spPr>
        <p:txBody>
          <a:bodyPr wrap="square" lIns="0" tIns="0" rIns="0" bIns="0" rtlCol="0" anchor="ctr"/>
          <a:lstStyle/>
          <a:p>
            <a:pPr indent="0" marL="0">
              <a:buNone/>
            </a:pPr>
            <a:r>
              <a:rPr lang="en-US" sz="1300" b="1" dirty="0">
                <a:solidFill>
                  <a:srgbClr val="0A1A44"/>
                </a:solidFill>
                <a:latin typeface="Calibri" pitchFamily="34" charset="0"/>
                <a:ea typeface="Calibri" pitchFamily="34" charset="-122"/>
                <a:cs typeface="Calibri" pitchFamily="34" charset="-120"/>
              </a:rPr>
              <a:t>concurrent Lambdas</a:t>
            </a:r>
            <a:endParaRPr lang="en-US" sz="1300" dirty="0"/>
          </a:p>
        </p:txBody>
      </p:sp>
      <p:sp>
        <p:nvSpPr>
          <p:cNvPr id="24" name="Text 22"/>
          <p:cNvSpPr txBox="1"/>
          <p:nvPr/>
        </p:nvSpPr>
        <p:spPr>
          <a:xfrm>
            <a:off x="4526280" y="4617720"/>
            <a:ext cx="3108960" cy="64008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Regional default, used by the single function</a:t>
            </a:r>
            <a:endParaRPr lang="en-US" sz="1200" dirty="0"/>
          </a:p>
        </p:txBody>
      </p:sp>
      <p:sp>
        <p:nvSpPr>
          <p:cNvPr id="25" name="Shape 23"/>
          <p:cNvSpPr/>
          <p:nvPr/>
        </p:nvSpPr>
        <p:spPr>
          <a:xfrm>
            <a:off x="8046720" y="3566160"/>
            <a:ext cx="3520440" cy="1737360"/>
          </a:xfrm>
          <a:prstGeom prst="roundRect">
            <a:avLst>
              <a:gd name="adj" fmla="val 4211"/>
            </a:avLst>
          </a:prstGeom>
          <a:solidFill>
            <a:srgbClr val="EAF1FC"/>
          </a:solidFill>
          <a:ln w="12700">
            <a:solidFill>
              <a:srgbClr val="EAF1FC"/>
            </a:solidFill>
            <a:prstDash val="solid"/>
          </a:ln>
        </p:spPr>
        <p:txBody>
          <a:bodyPr/>
          <a:p/>
        </p:txBody>
      </p:sp>
      <p:sp>
        <p:nvSpPr>
          <p:cNvPr id="26" name="Text 24"/>
          <p:cNvSpPr txBox="1"/>
          <p:nvPr/>
        </p:nvSpPr>
        <p:spPr>
          <a:xfrm>
            <a:off x="8275320" y="3703320"/>
            <a:ext cx="3108960" cy="685800"/>
          </a:xfrm>
          <a:prstGeom prst="rect">
            <a:avLst/>
          </a:prstGeom>
          <a:noFill/>
          <a:ln/>
        </p:spPr>
        <p:txBody>
          <a:bodyPr wrap="square" lIns="0" tIns="0" rIns="0" bIns="0" rtlCol="0" anchor="ctr"/>
          <a:lstStyle/>
          <a:p>
            <a:pPr indent="0" marL="0">
              <a:buNone/>
            </a:pPr>
            <a:r>
              <a:rPr lang="en-US" sz="3600" b="1" dirty="0">
                <a:solidFill>
                  <a:srgbClr val="0033A8"/>
                </a:solidFill>
                <a:latin typeface="Calibri" pitchFamily="34" charset="0"/>
                <a:ea typeface="Calibri" pitchFamily="34" charset="-122"/>
                <a:cs typeface="Calibri" pitchFamily="34" charset="-120"/>
              </a:rPr>
              <a:t>3,500 / 5,500</a:t>
            </a:r>
            <a:endParaRPr lang="en-US" sz="3600" dirty="0"/>
          </a:p>
        </p:txBody>
      </p:sp>
      <p:sp>
        <p:nvSpPr>
          <p:cNvPr id="27" name="Text 25"/>
          <p:cNvSpPr txBox="1"/>
          <p:nvPr/>
        </p:nvSpPr>
        <p:spPr>
          <a:xfrm>
            <a:off x="8275320" y="4343400"/>
            <a:ext cx="3108960" cy="274320"/>
          </a:xfrm>
          <a:prstGeom prst="rect">
            <a:avLst/>
          </a:prstGeom>
          <a:noFill/>
          <a:ln/>
        </p:spPr>
        <p:txBody>
          <a:bodyPr wrap="square" lIns="0" tIns="0" rIns="0" bIns="0" rtlCol="0" anchor="ctr"/>
          <a:lstStyle/>
          <a:p>
            <a:pPr indent="0" marL="0">
              <a:buNone/>
            </a:pPr>
            <a:r>
              <a:rPr lang="en-US" sz="1300" b="1" dirty="0">
                <a:solidFill>
                  <a:srgbClr val="0A1A44"/>
                </a:solidFill>
                <a:latin typeface="Calibri" pitchFamily="34" charset="0"/>
                <a:ea typeface="Calibri" pitchFamily="34" charset="-122"/>
                <a:cs typeface="Calibri" pitchFamily="34" charset="-120"/>
              </a:rPr>
              <a:t>S3 PUT / GET per s</a:t>
            </a:r>
            <a:endParaRPr lang="en-US" sz="1300" dirty="0"/>
          </a:p>
        </p:txBody>
      </p:sp>
      <p:sp>
        <p:nvSpPr>
          <p:cNvPr id="28" name="Text 26"/>
          <p:cNvSpPr txBox="1"/>
          <p:nvPr/>
        </p:nvSpPr>
        <p:spPr>
          <a:xfrm>
            <a:off x="8275320" y="4617720"/>
            <a:ext cx="3108960" cy="64008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Per prefix, spread by specialty</a:t>
            </a:r>
            <a:endParaRPr lang="en-US" sz="1200" dirty="0"/>
          </a:p>
        </p:txBody>
      </p:sp>
      <p:sp>
        <p:nvSpPr>
          <p:cNvPr id="29" name="Text 27"/>
          <p:cNvSpPr txBox="1"/>
          <p:nvPr/>
        </p:nvSpPr>
        <p:spPr>
          <a:xfrm>
            <a:off x="548640" y="5577840"/>
            <a:ext cx="11064240" cy="457200"/>
          </a:xfrm>
          <a:prstGeom prst="rect">
            <a:avLst/>
          </a:prstGeom>
          <a:noFill/>
          <a:ln/>
        </p:spPr>
        <p:txBody>
          <a:bodyPr wrap="square" lIns="0" tIns="0" rIns="0" bIns="0" rtlCol="0" anchor="ctr"/>
          <a:lstStyle/>
          <a:p>
            <a:pPr indent="0" marL="0">
              <a:buNone/>
            </a:pPr>
            <a:r>
              <a:rPr lang="en-US" sz="1400" b="1" dirty="0">
                <a:solidFill>
                  <a:srgbClr val="0A1A44"/>
                </a:solidFill>
                <a:latin typeface="Calibri" pitchFamily="34" charset="0"/>
                <a:ea typeface="Calibri" pitchFamily="34" charset="-122"/>
                <a:cs typeface="Calibri" pitchFamily="34" charset="-120"/>
              </a:rPr>
              <a:t>Latency (warm, indicative): </a:t>
            </a:r>
            <a:pPr indent="0" marL="0">
              <a:buNone/>
            </a:pPr>
            <a:r>
              <a:rPr lang="en-US" sz="1400" dirty="0">
                <a:solidFill>
                  <a:srgbClr val="1B2233"/>
                </a:solidFill>
                <a:latin typeface="Calibri" pitchFamily="34" charset="0"/>
                <a:ea typeface="Calibri" pitchFamily="34" charset="-122"/>
                <a:cs typeface="Calibri" pitchFamily="34" charset="-120"/>
              </a:rPr>
              <a:t>GET ~50-150 ms · POST ~150 ms + upload time · cold start +300-800 ms · to be confirmed by load test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A44"/>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Live demo</a:t>
            </a:r>
            <a:endParaRPr lang="en-US" sz="3200" dirty="0"/>
          </a:p>
        </p:txBody>
      </p:sp>
      <p:sp>
        <p:nvSpPr>
          <p:cNvPr id="3" name="Text 1"/>
          <p:cNvSpPr txBox="1"/>
          <p:nvPr/>
        </p:nvSpPr>
        <p:spPr>
          <a:xfrm>
            <a:off x="548640" y="960120"/>
            <a:ext cx="10058400" cy="365760"/>
          </a:xfrm>
          <a:prstGeom prst="rect">
            <a:avLst/>
          </a:prstGeom>
          <a:noFill/>
          <a:ln/>
        </p:spPr>
        <p:txBody>
          <a:bodyPr wrap="square" lIns="0" tIns="0" rIns="0" bIns="0" rtlCol="0" anchor="ctr"/>
          <a:lstStyle/>
          <a:p>
            <a:pPr indent="0" marL="0">
              <a:buNone/>
            </a:pPr>
            <a:r>
              <a:rPr lang="en-US" sz="1500" dirty="0">
                <a:solidFill>
                  <a:srgbClr val="C9D8F5"/>
                </a:solidFill>
                <a:latin typeface="Calibri" pitchFamily="34" charset="0"/>
                <a:ea typeface="Calibri" pitchFamily="34" charset="-122"/>
                <a:cs typeface="Calibri" pitchFamily="34" charset="-120"/>
              </a:rPr>
              <a:t>Destroy, re-create, prove it works</a:t>
            </a:r>
            <a:endParaRPr lang="en-US" sz="1500" dirty="0"/>
          </a:p>
        </p:txBody>
      </p:sp>
      <p:sp>
        <p:nvSpPr>
          <p:cNvPr id="4" name="Shape 2"/>
          <p:cNvSpPr/>
          <p:nvPr/>
        </p:nvSpPr>
        <p:spPr>
          <a:xfrm>
            <a:off x="548640" y="1828800"/>
            <a:ext cx="640080" cy="640080"/>
          </a:xfrm>
          <a:prstGeom prst="ellipse">
            <a:avLst/>
          </a:prstGeom>
          <a:solidFill>
            <a:srgbClr val="1FB6E0"/>
          </a:solidFill>
          <a:ln w="12700">
            <a:solidFill>
              <a:srgbClr val="1FB6E0"/>
            </a:solidFill>
            <a:prstDash val="solid"/>
          </a:ln>
        </p:spPr>
        <p:txBody>
          <a:bodyPr/>
          <a:p/>
        </p:txBody>
      </p:sp>
      <p:sp>
        <p:nvSpPr>
          <p:cNvPr id="5" name="Text 3"/>
          <p:cNvSpPr txBox="1"/>
          <p:nvPr/>
        </p:nvSpPr>
        <p:spPr>
          <a:xfrm>
            <a:off x="548640" y="1828800"/>
            <a:ext cx="640080" cy="640080"/>
          </a:xfrm>
          <a:prstGeom prst="rect">
            <a:avLst/>
          </a:prstGeom>
          <a:noFill/>
          <a:ln/>
        </p:spPr>
        <p:txBody>
          <a:bodyPr wrap="square" lIns="0" tIns="0" rIns="0" bIns="0" rtlCol="0" anchor="ctr"/>
          <a:lstStyle/>
          <a:p>
            <a:pPr algn="ctr" indent="0" marL="0">
              <a:buNone/>
            </a:pPr>
            <a:r>
              <a:rPr lang="en-US" sz="2000" b="1" dirty="0">
                <a:solidFill>
                  <a:srgbClr val="0A1A44"/>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1463040" y="1737360"/>
            <a:ext cx="10149840" cy="822960"/>
          </a:xfrm>
          <a:prstGeom prst="roundRect">
            <a:avLst>
              <a:gd name="adj" fmla="val 8889"/>
            </a:avLst>
          </a:prstGeom>
          <a:solidFill>
            <a:srgbClr val="16295F"/>
          </a:solidFill>
          <a:ln w="12700">
            <a:solidFill>
              <a:srgbClr val="16295F"/>
            </a:solidFill>
            <a:prstDash val="solid"/>
          </a:ln>
        </p:spPr>
        <p:txBody>
          <a:bodyPr/>
          <a:p/>
        </p:txBody>
      </p:sp>
      <p:sp>
        <p:nvSpPr>
          <p:cNvPr id="7" name="Text 5"/>
          <p:cNvSpPr txBox="1"/>
          <p:nvPr/>
        </p:nvSpPr>
        <p:spPr>
          <a:xfrm>
            <a:off x="1691640" y="1737360"/>
            <a:ext cx="2377440" cy="822960"/>
          </a:xfrm>
          <a:prstGeom prst="rect">
            <a:avLst/>
          </a:prstGeom>
          <a:noFill/>
          <a:ln/>
        </p:spPr>
        <p:txBody>
          <a:bodyPr wrap="square" lIns="0" tIns="0" rIns="0" bIns="0" rtlCol="0" anchor="ctr"/>
          <a:lstStyle/>
          <a:p>
            <a:pPr indent="0" marL="0">
              <a:buNone/>
            </a:pPr>
            <a:r>
              <a:rPr lang="en-US" sz="1800" b="1" dirty="0">
                <a:solidFill>
                  <a:srgbClr val="1FB6E0"/>
                </a:solidFill>
                <a:latin typeface="Courier New" pitchFamily="34" charset="0"/>
                <a:ea typeface="Courier New" pitchFamily="34" charset="-122"/>
                <a:cs typeface="Courier New" pitchFamily="34" charset="-120"/>
              </a:rPr>
              <a:t>make destroy</a:t>
            </a:r>
            <a:endParaRPr lang="en-US" sz="1800" dirty="0"/>
          </a:p>
        </p:txBody>
      </p:sp>
      <p:sp>
        <p:nvSpPr>
          <p:cNvPr id="8" name="Text 6"/>
          <p:cNvSpPr txBox="1"/>
          <p:nvPr/>
        </p:nvSpPr>
        <p:spPr>
          <a:xfrm>
            <a:off x="4114800" y="1737360"/>
            <a:ext cx="6035040" cy="8229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Every resource is removed. The state bucket is kept.</a:t>
            </a:r>
            <a:endParaRPr lang="en-US" sz="1500" dirty="0"/>
          </a:p>
        </p:txBody>
      </p:sp>
      <p:sp>
        <p:nvSpPr>
          <p:cNvPr id="9" name="Text 7"/>
          <p:cNvSpPr txBox="1"/>
          <p:nvPr/>
        </p:nvSpPr>
        <p:spPr>
          <a:xfrm>
            <a:off x="10149840" y="1737360"/>
            <a:ext cx="1325880" cy="822960"/>
          </a:xfrm>
          <a:prstGeom prst="rect">
            <a:avLst/>
          </a:prstGeom>
          <a:noFill/>
          <a:ln/>
        </p:spPr>
        <p:txBody>
          <a:bodyPr wrap="square" lIns="0" tIns="0" rIns="0" bIns="0" rtlCol="0" anchor="ctr"/>
          <a:lstStyle/>
          <a:p>
            <a:pPr algn="r" indent="0" marL="0">
              <a:buNone/>
            </a:pPr>
            <a:r>
              <a:rPr lang="en-US" sz="1300" dirty="0">
                <a:solidFill>
                  <a:srgbClr val="C9D8F5"/>
                </a:solidFill>
                <a:latin typeface="Calibri" pitchFamily="34" charset="0"/>
                <a:ea typeface="Calibri" pitchFamily="34" charset="-122"/>
                <a:cs typeface="Calibri" pitchFamily="34" charset="-120"/>
              </a:rPr>
              <a:t>~2 min</a:t>
            </a:r>
            <a:endParaRPr lang="en-US" sz="1300" dirty="0"/>
          </a:p>
        </p:txBody>
      </p:sp>
      <p:sp>
        <p:nvSpPr>
          <p:cNvPr id="10" name="Shape 8"/>
          <p:cNvSpPr/>
          <p:nvPr/>
        </p:nvSpPr>
        <p:spPr>
          <a:xfrm>
            <a:off x="548640" y="2926080"/>
            <a:ext cx="640080" cy="640080"/>
          </a:xfrm>
          <a:prstGeom prst="ellipse">
            <a:avLst/>
          </a:prstGeom>
          <a:solidFill>
            <a:srgbClr val="1FB6E0"/>
          </a:solidFill>
          <a:ln w="12700">
            <a:solidFill>
              <a:srgbClr val="1FB6E0"/>
            </a:solidFill>
            <a:prstDash val="solid"/>
          </a:ln>
        </p:spPr>
        <p:txBody>
          <a:bodyPr/>
          <a:p/>
        </p:txBody>
      </p:sp>
      <p:sp>
        <p:nvSpPr>
          <p:cNvPr id="11" name="Text 9"/>
          <p:cNvSpPr txBox="1"/>
          <p:nvPr/>
        </p:nvSpPr>
        <p:spPr>
          <a:xfrm>
            <a:off x="548640" y="2926080"/>
            <a:ext cx="640080" cy="640080"/>
          </a:xfrm>
          <a:prstGeom prst="rect">
            <a:avLst/>
          </a:prstGeom>
          <a:noFill/>
          <a:ln/>
        </p:spPr>
        <p:txBody>
          <a:bodyPr wrap="square" lIns="0" tIns="0" rIns="0" bIns="0" rtlCol="0" anchor="ctr"/>
          <a:lstStyle/>
          <a:p>
            <a:pPr algn="ctr" indent="0" marL="0">
              <a:buNone/>
            </a:pPr>
            <a:r>
              <a:rPr lang="en-US" sz="2000" b="1" dirty="0">
                <a:solidFill>
                  <a:srgbClr val="0A1A44"/>
                </a:solidFill>
                <a:latin typeface="Calibri" pitchFamily="34" charset="0"/>
                <a:ea typeface="Calibri" pitchFamily="34" charset="-122"/>
                <a:cs typeface="Calibri" pitchFamily="34" charset="-120"/>
              </a:rPr>
              <a:t>2</a:t>
            </a:r>
            <a:endParaRPr lang="en-US" sz="2000" dirty="0"/>
          </a:p>
        </p:txBody>
      </p:sp>
      <p:sp>
        <p:nvSpPr>
          <p:cNvPr id="12" name="Shape 10"/>
          <p:cNvSpPr/>
          <p:nvPr/>
        </p:nvSpPr>
        <p:spPr>
          <a:xfrm>
            <a:off x="1463040" y="2834640"/>
            <a:ext cx="10149840" cy="822960"/>
          </a:xfrm>
          <a:prstGeom prst="roundRect">
            <a:avLst>
              <a:gd name="adj" fmla="val 8889"/>
            </a:avLst>
          </a:prstGeom>
          <a:solidFill>
            <a:srgbClr val="16295F"/>
          </a:solidFill>
          <a:ln w="12700">
            <a:solidFill>
              <a:srgbClr val="16295F"/>
            </a:solidFill>
            <a:prstDash val="solid"/>
          </a:ln>
        </p:spPr>
        <p:txBody>
          <a:bodyPr/>
          <a:p/>
        </p:txBody>
      </p:sp>
      <p:sp>
        <p:nvSpPr>
          <p:cNvPr id="13" name="Text 11"/>
          <p:cNvSpPr txBox="1"/>
          <p:nvPr/>
        </p:nvSpPr>
        <p:spPr>
          <a:xfrm>
            <a:off x="1691640" y="2834640"/>
            <a:ext cx="2377440" cy="822960"/>
          </a:xfrm>
          <a:prstGeom prst="rect">
            <a:avLst/>
          </a:prstGeom>
          <a:noFill/>
          <a:ln/>
        </p:spPr>
        <p:txBody>
          <a:bodyPr wrap="square" lIns="0" tIns="0" rIns="0" bIns="0" rtlCol="0" anchor="ctr"/>
          <a:lstStyle/>
          <a:p>
            <a:pPr indent="0" marL="0">
              <a:buNone/>
            </a:pPr>
            <a:r>
              <a:rPr lang="en-US" sz="1800" b="1" dirty="0">
                <a:solidFill>
                  <a:srgbClr val="1FB6E0"/>
                </a:solidFill>
                <a:latin typeface="Courier New" pitchFamily="34" charset="0"/>
                <a:ea typeface="Courier New" pitchFamily="34" charset="-122"/>
                <a:cs typeface="Courier New" pitchFamily="34" charset="-120"/>
              </a:rPr>
              <a:t>make apply</a:t>
            </a:r>
            <a:endParaRPr lang="en-US" sz="1800" dirty="0"/>
          </a:p>
        </p:txBody>
      </p:sp>
      <p:sp>
        <p:nvSpPr>
          <p:cNvPr id="14" name="Text 12"/>
          <p:cNvSpPr txBox="1"/>
          <p:nvPr/>
        </p:nvSpPr>
        <p:spPr>
          <a:xfrm>
            <a:off x="4114800" y="2834640"/>
            <a:ext cx="6035040" cy="8229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plan -out, then apply. 5 modules, 42 resources.</a:t>
            </a:r>
            <a:endParaRPr lang="en-US" sz="1500" dirty="0"/>
          </a:p>
        </p:txBody>
      </p:sp>
      <p:sp>
        <p:nvSpPr>
          <p:cNvPr id="15" name="Text 13"/>
          <p:cNvSpPr txBox="1"/>
          <p:nvPr/>
        </p:nvSpPr>
        <p:spPr>
          <a:xfrm>
            <a:off x="10149840" y="2834640"/>
            <a:ext cx="1325880" cy="822960"/>
          </a:xfrm>
          <a:prstGeom prst="rect">
            <a:avLst/>
          </a:prstGeom>
          <a:noFill/>
          <a:ln/>
        </p:spPr>
        <p:txBody>
          <a:bodyPr wrap="square" lIns="0" tIns="0" rIns="0" bIns="0" rtlCol="0" anchor="ctr"/>
          <a:lstStyle/>
          <a:p>
            <a:pPr algn="r" indent="0" marL="0">
              <a:buNone/>
            </a:pPr>
            <a:r>
              <a:rPr lang="en-US" sz="1300" dirty="0">
                <a:solidFill>
                  <a:srgbClr val="C9D8F5"/>
                </a:solidFill>
                <a:latin typeface="Calibri" pitchFamily="34" charset="0"/>
                <a:ea typeface="Calibri" pitchFamily="34" charset="-122"/>
                <a:cs typeface="Calibri" pitchFamily="34" charset="-120"/>
              </a:rPr>
              <a:t>~2-3 min</a:t>
            </a:r>
            <a:endParaRPr lang="en-US" sz="1300" dirty="0"/>
          </a:p>
        </p:txBody>
      </p:sp>
      <p:sp>
        <p:nvSpPr>
          <p:cNvPr id="16" name="Shape 14"/>
          <p:cNvSpPr/>
          <p:nvPr/>
        </p:nvSpPr>
        <p:spPr>
          <a:xfrm>
            <a:off x="548640" y="4023360"/>
            <a:ext cx="640080" cy="640080"/>
          </a:xfrm>
          <a:prstGeom prst="ellipse">
            <a:avLst/>
          </a:prstGeom>
          <a:solidFill>
            <a:srgbClr val="1FB6E0"/>
          </a:solidFill>
          <a:ln w="12700">
            <a:solidFill>
              <a:srgbClr val="1FB6E0"/>
            </a:solidFill>
            <a:prstDash val="solid"/>
          </a:ln>
        </p:spPr>
        <p:txBody>
          <a:bodyPr/>
          <a:p/>
        </p:txBody>
      </p:sp>
      <p:sp>
        <p:nvSpPr>
          <p:cNvPr id="17" name="Text 15"/>
          <p:cNvSpPr txBox="1"/>
          <p:nvPr/>
        </p:nvSpPr>
        <p:spPr>
          <a:xfrm>
            <a:off x="548640" y="4023360"/>
            <a:ext cx="640080" cy="640080"/>
          </a:xfrm>
          <a:prstGeom prst="rect">
            <a:avLst/>
          </a:prstGeom>
          <a:noFill/>
          <a:ln/>
        </p:spPr>
        <p:txBody>
          <a:bodyPr wrap="square" lIns="0" tIns="0" rIns="0" bIns="0" rtlCol="0" anchor="ctr"/>
          <a:lstStyle/>
          <a:p>
            <a:pPr algn="ctr" indent="0" marL="0">
              <a:buNone/>
            </a:pPr>
            <a:r>
              <a:rPr lang="en-US" sz="2000" b="1" dirty="0">
                <a:solidFill>
                  <a:srgbClr val="0A1A44"/>
                </a:solidFill>
                <a:latin typeface="Calibri" pitchFamily="34" charset="0"/>
                <a:ea typeface="Calibri" pitchFamily="34" charset="-122"/>
                <a:cs typeface="Calibri" pitchFamily="34" charset="-120"/>
              </a:rPr>
              <a:t>3</a:t>
            </a:r>
            <a:endParaRPr lang="en-US" sz="2000" dirty="0"/>
          </a:p>
        </p:txBody>
      </p:sp>
      <p:sp>
        <p:nvSpPr>
          <p:cNvPr id="18" name="Shape 16"/>
          <p:cNvSpPr/>
          <p:nvPr/>
        </p:nvSpPr>
        <p:spPr>
          <a:xfrm>
            <a:off x="1463040" y="3931920"/>
            <a:ext cx="10149840" cy="822960"/>
          </a:xfrm>
          <a:prstGeom prst="roundRect">
            <a:avLst>
              <a:gd name="adj" fmla="val 8889"/>
            </a:avLst>
          </a:prstGeom>
          <a:solidFill>
            <a:srgbClr val="16295F"/>
          </a:solidFill>
          <a:ln w="12700">
            <a:solidFill>
              <a:srgbClr val="16295F"/>
            </a:solidFill>
            <a:prstDash val="solid"/>
          </a:ln>
        </p:spPr>
        <p:txBody>
          <a:bodyPr/>
          <a:p/>
        </p:txBody>
      </p:sp>
      <p:sp>
        <p:nvSpPr>
          <p:cNvPr id="19" name="Text 17"/>
          <p:cNvSpPr txBox="1"/>
          <p:nvPr/>
        </p:nvSpPr>
        <p:spPr>
          <a:xfrm>
            <a:off x="1691640" y="3931920"/>
            <a:ext cx="2377440" cy="822960"/>
          </a:xfrm>
          <a:prstGeom prst="rect">
            <a:avLst/>
          </a:prstGeom>
          <a:noFill/>
          <a:ln/>
        </p:spPr>
        <p:txBody>
          <a:bodyPr wrap="square" lIns="0" tIns="0" rIns="0" bIns="0" rtlCol="0" anchor="ctr"/>
          <a:lstStyle/>
          <a:p>
            <a:pPr indent="0" marL="0">
              <a:buNone/>
            </a:pPr>
            <a:r>
              <a:rPr lang="en-US" sz="1800" b="1" dirty="0">
                <a:solidFill>
                  <a:srgbClr val="1FB6E0"/>
                </a:solidFill>
                <a:latin typeface="Courier New" pitchFamily="34" charset="0"/>
                <a:ea typeface="Courier New" pitchFamily="34" charset="-122"/>
                <a:cs typeface="Courier New" pitchFamily="34" charset="-120"/>
              </a:rPr>
              <a:t>make seed</a:t>
            </a:r>
            <a:endParaRPr lang="en-US" sz="1800" dirty="0"/>
          </a:p>
        </p:txBody>
      </p:sp>
      <p:sp>
        <p:nvSpPr>
          <p:cNvPr id="20" name="Text 18"/>
          <p:cNvSpPr txBox="1"/>
          <p:nvPr/>
        </p:nvSpPr>
        <p:spPr>
          <a:xfrm>
            <a:off x="4114800" y="3931920"/>
            <a:ext cx="6035040" cy="8229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Loads CA-000001 to CA-000007 from the exercise.</a:t>
            </a:r>
            <a:endParaRPr lang="en-US" sz="1500" dirty="0"/>
          </a:p>
        </p:txBody>
      </p:sp>
      <p:sp>
        <p:nvSpPr>
          <p:cNvPr id="21" name="Text 19"/>
          <p:cNvSpPr txBox="1"/>
          <p:nvPr/>
        </p:nvSpPr>
        <p:spPr>
          <a:xfrm>
            <a:off x="10149840" y="3931920"/>
            <a:ext cx="1325880" cy="822960"/>
          </a:xfrm>
          <a:prstGeom prst="rect">
            <a:avLst/>
          </a:prstGeom>
          <a:noFill/>
          <a:ln/>
        </p:spPr>
        <p:txBody>
          <a:bodyPr wrap="square" lIns="0" tIns="0" rIns="0" bIns="0" rtlCol="0" anchor="ctr"/>
          <a:lstStyle/>
          <a:p>
            <a:pPr algn="r" indent="0" marL="0">
              <a:buNone/>
            </a:pPr>
            <a:r>
              <a:rPr lang="en-US" sz="1300" dirty="0">
                <a:solidFill>
                  <a:srgbClr val="C9D8F5"/>
                </a:solidFill>
                <a:latin typeface="Calibri" pitchFamily="34" charset="0"/>
                <a:ea typeface="Calibri" pitchFamily="34" charset="-122"/>
                <a:cs typeface="Calibri" pitchFamily="34" charset="-120"/>
              </a:rPr>
              <a:t>seconds</a:t>
            </a:r>
            <a:endParaRPr lang="en-US" sz="1300" dirty="0"/>
          </a:p>
        </p:txBody>
      </p:sp>
      <p:sp>
        <p:nvSpPr>
          <p:cNvPr id="22" name="Shape 20"/>
          <p:cNvSpPr/>
          <p:nvPr/>
        </p:nvSpPr>
        <p:spPr>
          <a:xfrm>
            <a:off x="548640" y="5120640"/>
            <a:ext cx="640080" cy="640080"/>
          </a:xfrm>
          <a:prstGeom prst="ellipse">
            <a:avLst/>
          </a:prstGeom>
          <a:solidFill>
            <a:srgbClr val="1FB6E0"/>
          </a:solidFill>
          <a:ln w="12700">
            <a:solidFill>
              <a:srgbClr val="1FB6E0"/>
            </a:solidFill>
            <a:prstDash val="solid"/>
          </a:ln>
        </p:spPr>
        <p:txBody>
          <a:bodyPr/>
          <a:p/>
        </p:txBody>
      </p:sp>
      <p:sp>
        <p:nvSpPr>
          <p:cNvPr id="23" name="Text 21"/>
          <p:cNvSpPr txBox="1"/>
          <p:nvPr/>
        </p:nvSpPr>
        <p:spPr>
          <a:xfrm>
            <a:off x="548640" y="5120640"/>
            <a:ext cx="640080" cy="640080"/>
          </a:xfrm>
          <a:prstGeom prst="rect">
            <a:avLst/>
          </a:prstGeom>
          <a:noFill/>
          <a:ln/>
        </p:spPr>
        <p:txBody>
          <a:bodyPr wrap="square" lIns="0" tIns="0" rIns="0" bIns="0" rtlCol="0" anchor="ctr"/>
          <a:lstStyle/>
          <a:p>
            <a:pPr algn="ctr" indent="0" marL="0">
              <a:buNone/>
            </a:pPr>
            <a:r>
              <a:rPr lang="en-US" sz="2000" b="1" dirty="0">
                <a:solidFill>
                  <a:srgbClr val="0A1A44"/>
                </a:solidFill>
                <a:latin typeface="Calibri" pitchFamily="34" charset="0"/>
                <a:ea typeface="Calibri" pitchFamily="34" charset="-122"/>
                <a:cs typeface="Calibri" pitchFamily="34" charset="-120"/>
              </a:rPr>
              <a:t>4</a:t>
            </a:r>
            <a:endParaRPr lang="en-US" sz="2000" dirty="0"/>
          </a:p>
        </p:txBody>
      </p:sp>
      <p:sp>
        <p:nvSpPr>
          <p:cNvPr id="24" name="Shape 22"/>
          <p:cNvSpPr/>
          <p:nvPr/>
        </p:nvSpPr>
        <p:spPr>
          <a:xfrm>
            <a:off x="1463040" y="5029200"/>
            <a:ext cx="10149840" cy="822960"/>
          </a:xfrm>
          <a:prstGeom prst="roundRect">
            <a:avLst>
              <a:gd name="adj" fmla="val 8889"/>
            </a:avLst>
          </a:prstGeom>
          <a:solidFill>
            <a:srgbClr val="16295F"/>
          </a:solidFill>
          <a:ln w="12700">
            <a:solidFill>
              <a:srgbClr val="16295F"/>
            </a:solidFill>
            <a:prstDash val="solid"/>
          </a:ln>
        </p:spPr>
        <p:txBody>
          <a:bodyPr/>
          <a:p/>
        </p:txBody>
      </p:sp>
      <p:sp>
        <p:nvSpPr>
          <p:cNvPr id="25" name="Text 23"/>
          <p:cNvSpPr txBox="1"/>
          <p:nvPr/>
        </p:nvSpPr>
        <p:spPr>
          <a:xfrm>
            <a:off x="1691640" y="5029200"/>
            <a:ext cx="2377440" cy="822960"/>
          </a:xfrm>
          <a:prstGeom prst="rect">
            <a:avLst/>
          </a:prstGeom>
          <a:noFill/>
          <a:ln/>
        </p:spPr>
        <p:txBody>
          <a:bodyPr wrap="square" lIns="0" tIns="0" rIns="0" bIns="0" rtlCol="0" anchor="ctr"/>
          <a:lstStyle/>
          <a:p>
            <a:pPr indent="0" marL="0">
              <a:buNone/>
            </a:pPr>
            <a:r>
              <a:rPr lang="en-US" sz="1800" b="1" dirty="0">
                <a:solidFill>
                  <a:srgbClr val="1FB6E0"/>
                </a:solidFill>
                <a:latin typeface="Courier New" pitchFamily="34" charset="0"/>
                <a:ea typeface="Courier New" pitchFamily="34" charset="-122"/>
                <a:cs typeface="Courier New" pitchFamily="34" charset="-120"/>
              </a:rPr>
              <a:t>make demo</a:t>
            </a:r>
            <a:endParaRPr lang="en-US" sz="1800" dirty="0"/>
          </a:p>
        </p:txBody>
      </p:sp>
      <p:sp>
        <p:nvSpPr>
          <p:cNvPr id="26" name="Text 24"/>
          <p:cNvSpPr txBox="1"/>
          <p:nvPr/>
        </p:nvSpPr>
        <p:spPr>
          <a:xfrm>
            <a:off x="4114800" y="5029200"/>
            <a:ext cx="6035040" cy="8229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401 → token → create → get → download → list → error cases</a:t>
            </a:r>
            <a:endParaRPr lang="en-US" sz="1500" dirty="0"/>
          </a:p>
        </p:txBody>
      </p:sp>
      <p:sp>
        <p:nvSpPr>
          <p:cNvPr id="27" name="Text 25"/>
          <p:cNvSpPr txBox="1"/>
          <p:nvPr/>
        </p:nvSpPr>
        <p:spPr>
          <a:xfrm>
            <a:off x="10149840" y="5029200"/>
            <a:ext cx="1325880" cy="822960"/>
          </a:xfrm>
          <a:prstGeom prst="rect">
            <a:avLst/>
          </a:prstGeom>
          <a:noFill/>
          <a:ln/>
        </p:spPr>
        <p:txBody>
          <a:bodyPr wrap="square" lIns="0" tIns="0" rIns="0" bIns="0" rtlCol="0" anchor="ctr"/>
          <a:lstStyle/>
          <a:p>
            <a:pPr algn="r" indent="0" marL="0">
              <a:buNone/>
            </a:pPr>
            <a:r>
              <a:rPr lang="en-US" sz="1300" dirty="0">
                <a:solidFill>
                  <a:srgbClr val="C9D8F5"/>
                </a:solidFill>
                <a:latin typeface="Calibri" pitchFamily="34" charset="0"/>
                <a:ea typeface="Calibri" pitchFamily="34" charset="-122"/>
                <a:cs typeface="Calibri" pitchFamily="34" charset="-120"/>
              </a:rPr>
              <a:t>seconds</a:t>
            </a:r>
            <a:endParaRPr lang="en-US" sz="1300" dirty="0"/>
          </a:p>
        </p:txBody>
      </p:sp>
      <p:sp>
        <p:nvSpPr>
          <p:cNvPr id="28" name="Text 26"/>
          <p:cNvSpPr txBox="1"/>
          <p:nvPr/>
        </p:nvSpPr>
        <p:spPr>
          <a:xfrm>
            <a:off x="548640" y="6172200"/>
            <a:ext cx="10972800" cy="365760"/>
          </a:xfrm>
          <a:prstGeom prst="rect">
            <a:avLst/>
          </a:prstGeom>
          <a:noFill/>
          <a:ln/>
        </p:spPr>
        <p:txBody>
          <a:bodyPr wrap="square" lIns="0" tIns="0" rIns="0" bIns="0" rtlCol="0" anchor="ctr"/>
          <a:lstStyle/>
          <a:p>
            <a:pPr indent="0" marL="0">
              <a:buNone/>
            </a:pPr>
            <a:r>
              <a:rPr lang="en-US" sz="1300" i="1" dirty="0">
                <a:solidFill>
                  <a:srgbClr val="C9D8F5"/>
                </a:solidFill>
                <a:latin typeface="Calibri" pitchFamily="34" charset="0"/>
                <a:ea typeface="Calibri" pitchFamily="34" charset="-122"/>
                <a:cs typeface="Calibri" pitchFamily="34" charset="-120"/>
              </a:rPr>
              <a:t>Then in the console: the Cognito app client, the DynamoDB items and the S3 objects.</a:t>
            </a:r>
            <a:endParaRPr lang="en-US" sz="1300" dirty="0"/>
          </a:p>
        </p:txBody>
      </p:sp>
      <p:sp>
        <p:nvSpPr>
          <p:cNvPr id="29" name="Text 27"/>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C9D8F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indent="0" marL="0">
              <a:buNone/>
            </a:pPr>
            <a:r>
              <a:rPr lang="en-US" sz="3200" b="1" dirty="0">
                <a:solidFill>
                  <a:srgbClr val="0A1A44"/>
                </a:solidFill>
                <a:latin typeface="Calibri" pitchFamily="34" charset="0"/>
                <a:ea typeface="Calibri" pitchFamily="34" charset="-122"/>
                <a:cs typeface="Calibri" pitchFamily="34" charset="-120"/>
              </a:rPr>
              <a:t>Design trade-offs</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indent="0" marL="0">
              <a:buNone/>
            </a:pPr>
            <a:r>
              <a:rPr lang="en-US" sz="1500" dirty="0">
                <a:solidFill>
                  <a:srgbClr val="5B6478"/>
                </a:solidFill>
                <a:latin typeface="Calibri" pitchFamily="34" charset="0"/>
                <a:ea typeface="Calibri" pitchFamily="34" charset="-122"/>
                <a:cs typeface="Calibri" pitchFamily="34" charset="-120"/>
              </a:rPr>
              <a:t>Conscious decisions, and what each one costs</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1645920"/>
            <a:ext cx="5120640" cy="411480"/>
          </a:xfrm>
          <a:prstGeom prst="rect">
            <a:avLst/>
          </a:prstGeom>
          <a:noFill/>
          <a:ln/>
        </p:spPr>
        <p:txBody>
          <a:bodyPr wrap="square" lIns="0" tIns="0" rIns="0" bIns="0" rtlCol="0" anchor="ctr"/>
          <a:lstStyle/>
          <a:p>
            <a:pPr indent="0" marL="0">
              <a:buNone/>
            </a:pPr>
            <a:r>
              <a:rPr lang="en-US" sz="1900" b="1" dirty="0">
                <a:solidFill>
                  <a:srgbClr val="0A1A44"/>
                </a:solidFill>
                <a:latin typeface="Calibri" pitchFamily="34" charset="0"/>
                <a:ea typeface="Calibri" pitchFamily="34" charset="-122"/>
                <a:cs typeface="Calibri" pitchFamily="34" charset="-120"/>
              </a:rPr>
              <a:t>Decisions taken</a:t>
            </a:r>
            <a:endParaRPr lang="en-US" sz="1900" dirty="0"/>
          </a:p>
        </p:txBody>
      </p:sp>
      <p:sp>
        <p:nvSpPr>
          <p:cNvPr id="6" name="Shape 4"/>
          <p:cNvSpPr/>
          <p:nvPr/>
        </p:nvSpPr>
        <p:spPr>
          <a:xfrm>
            <a:off x="548640" y="2194560"/>
            <a:ext cx="5120640" cy="822960"/>
          </a:xfrm>
          <a:prstGeom prst="roundRect">
            <a:avLst>
              <a:gd name="adj" fmla="val 8889"/>
            </a:avLst>
          </a:prstGeom>
          <a:solidFill>
            <a:srgbClr val="EAF1FC"/>
          </a:solidFill>
          <a:ln w="12700">
            <a:solidFill>
              <a:srgbClr val="EAF1FC"/>
            </a:solidFill>
            <a:prstDash val="solid"/>
          </a:ln>
        </p:spPr>
        <p:txBody>
          <a:bodyPr/>
          <a:p/>
        </p:txBody>
      </p:sp>
      <p:sp>
        <p:nvSpPr>
          <p:cNvPr id="7" name="Text 5"/>
          <p:cNvSpPr txBox="1"/>
          <p:nvPr/>
        </p:nvSpPr>
        <p:spPr>
          <a:xfrm>
            <a:off x="777240" y="2267712"/>
            <a:ext cx="4754880" cy="347472"/>
          </a:xfrm>
          <a:prstGeom prst="rect">
            <a:avLst/>
          </a:prstGeom>
          <a:noFill/>
          <a:ln/>
        </p:spPr>
        <p:txBody>
          <a:bodyPr wrap="square" lIns="0" tIns="0" rIns="0" bIns="0" rtlCol="0" anchor="ctr"/>
          <a:lstStyle/>
          <a:p>
            <a:pPr indent="0" marL="0">
              <a:buNone/>
            </a:pPr>
            <a:r>
              <a:rPr lang="en-US" sz="1500" b="1" dirty="0">
                <a:solidFill>
                  <a:srgbClr val="0033A8"/>
                </a:solidFill>
                <a:latin typeface="Calibri" pitchFamily="34" charset="0"/>
                <a:ea typeface="Calibri" pitchFamily="34" charset="-122"/>
                <a:cs typeface="Calibri" pitchFamily="34" charset="-120"/>
              </a:rPr>
              <a:t>Single-call upload</a:t>
            </a:r>
            <a:endParaRPr lang="en-US" sz="1500" dirty="0"/>
          </a:p>
        </p:txBody>
      </p:sp>
      <p:sp>
        <p:nvSpPr>
          <p:cNvPr id="8" name="Text 6"/>
          <p:cNvSpPr txBox="1"/>
          <p:nvPr/>
        </p:nvSpPr>
        <p:spPr>
          <a:xfrm>
            <a:off x="777240" y="2615184"/>
            <a:ext cx="4754880" cy="329184"/>
          </a:xfrm>
          <a:prstGeom prst="rect">
            <a:avLst/>
          </a:prstGeom>
          <a:noFill/>
          <a:ln/>
        </p:spPr>
        <p:txBody>
          <a:bodyPr wrap="square" lIns="0" tIns="0" rIns="0" bIns="0" rtlCol="0" anchor="ctr"/>
          <a:lstStyle/>
          <a:p>
            <a:pPr indent="0" marL="0">
              <a:buNone/>
            </a:pPr>
            <a:r>
              <a:rPr lang="en-US" sz="1300" dirty="0">
                <a:solidFill>
                  <a:srgbClr val="1B2233"/>
                </a:solidFill>
                <a:latin typeface="Calibri" pitchFamily="34" charset="0"/>
                <a:ea typeface="Calibri" pitchFamily="34" charset="-122"/>
                <a:cs typeface="Calibri" pitchFamily="34" charset="-120"/>
              </a:rPr>
              <a:t>Simple for clients, but capped at 4 MB</a:t>
            </a:r>
            <a:endParaRPr lang="en-US" sz="1300" dirty="0"/>
          </a:p>
        </p:txBody>
      </p:sp>
      <p:sp>
        <p:nvSpPr>
          <p:cNvPr id="9" name="Shape 7"/>
          <p:cNvSpPr/>
          <p:nvPr/>
        </p:nvSpPr>
        <p:spPr>
          <a:xfrm>
            <a:off x="548640" y="3154680"/>
            <a:ext cx="5120640" cy="822960"/>
          </a:xfrm>
          <a:prstGeom prst="roundRect">
            <a:avLst>
              <a:gd name="adj" fmla="val 8889"/>
            </a:avLst>
          </a:prstGeom>
          <a:solidFill>
            <a:srgbClr val="EAF1FC"/>
          </a:solidFill>
          <a:ln w="12700">
            <a:solidFill>
              <a:srgbClr val="EAF1FC"/>
            </a:solidFill>
            <a:prstDash val="solid"/>
          </a:ln>
        </p:spPr>
        <p:txBody>
          <a:bodyPr/>
          <a:p/>
        </p:txBody>
      </p:sp>
      <p:sp>
        <p:nvSpPr>
          <p:cNvPr id="10" name="Text 8"/>
          <p:cNvSpPr txBox="1"/>
          <p:nvPr/>
        </p:nvSpPr>
        <p:spPr>
          <a:xfrm>
            <a:off x="777240" y="3227832"/>
            <a:ext cx="4754880" cy="347472"/>
          </a:xfrm>
          <a:prstGeom prst="rect">
            <a:avLst/>
          </a:prstGeom>
          <a:noFill/>
          <a:ln/>
        </p:spPr>
        <p:txBody>
          <a:bodyPr wrap="square" lIns="0" tIns="0" rIns="0" bIns="0" rtlCol="0" anchor="ctr"/>
          <a:lstStyle/>
          <a:p>
            <a:pPr indent="0" marL="0">
              <a:buNone/>
            </a:pPr>
            <a:r>
              <a:rPr lang="en-US" sz="1500" b="1" dirty="0">
                <a:solidFill>
                  <a:srgbClr val="0033A8"/>
                </a:solidFill>
                <a:latin typeface="Calibri" pitchFamily="34" charset="0"/>
                <a:ea typeface="Calibri" pitchFamily="34" charset="-122"/>
                <a:cs typeface="Calibri" pitchFamily="34" charset="-120"/>
              </a:rPr>
              <a:t>Sequential IDs</a:t>
            </a:r>
            <a:endParaRPr lang="en-US" sz="1500" dirty="0"/>
          </a:p>
        </p:txBody>
      </p:sp>
      <p:sp>
        <p:nvSpPr>
          <p:cNvPr id="11" name="Text 9"/>
          <p:cNvSpPr txBox="1"/>
          <p:nvPr/>
        </p:nvSpPr>
        <p:spPr>
          <a:xfrm>
            <a:off x="777240" y="3575304"/>
            <a:ext cx="4754880" cy="329184"/>
          </a:xfrm>
          <a:prstGeom prst="rect">
            <a:avLst/>
          </a:prstGeom>
          <a:noFill/>
          <a:ln/>
        </p:spPr>
        <p:txBody>
          <a:bodyPr wrap="square" lIns="0" tIns="0" rIns="0" bIns="0" rtlCol="0" anchor="ctr"/>
          <a:lstStyle/>
          <a:p>
            <a:pPr indent="0" marL="0">
              <a:buNone/>
            </a:pPr>
            <a:r>
              <a:rPr lang="en-US" sz="1300" dirty="0">
                <a:solidFill>
                  <a:srgbClr val="1B2233"/>
                </a:solidFill>
                <a:latin typeface="Calibri" pitchFamily="34" charset="0"/>
                <a:ea typeface="Calibri" pitchFamily="34" charset="-122"/>
                <a:cs typeface="Calibri" pitchFamily="34" charset="-120"/>
              </a:rPr>
              <a:t>Match the spec, but enumerable and a hot key</a:t>
            </a:r>
            <a:endParaRPr lang="en-US" sz="1300" dirty="0"/>
          </a:p>
        </p:txBody>
      </p:sp>
      <p:sp>
        <p:nvSpPr>
          <p:cNvPr id="12" name="Shape 10"/>
          <p:cNvSpPr/>
          <p:nvPr/>
        </p:nvSpPr>
        <p:spPr>
          <a:xfrm>
            <a:off x="548640" y="4114800"/>
            <a:ext cx="5120640" cy="822960"/>
          </a:xfrm>
          <a:prstGeom prst="roundRect">
            <a:avLst>
              <a:gd name="adj" fmla="val 8889"/>
            </a:avLst>
          </a:prstGeom>
          <a:solidFill>
            <a:srgbClr val="EAF1FC"/>
          </a:solidFill>
          <a:ln w="12700">
            <a:solidFill>
              <a:srgbClr val="EAF1FC"/>
            </a:solidFill>
            <a:prstDash val="solid"/>
          </a:ln>
        </p:spPr>
        <p:txBody>
          <a:bodyPr/>
          <a:p/>
        </p:txBody>
      </p:sp>
      <p:sp>
        <p:nvSpPr>
          <p:cNvPr id="13" name="Text 11"/>
          <p:cNvSpPr txBox="1"/>
          <p:nvPr/>
        </p:nvSpPr>
        <p:spPr>
          <a:xfrm>
            <a:off x="777240" y="4187952"/>
            <a:ext cx="4754880" cy="347472"/>
          </a:xfrm>
          <a:prstGeom prst="rect">
            <a:avLst/>
          </a:prstGeom>
          <a:noFill/>
          <a:ln/>
        </p:spPr>
        <p:txBody>
          <a:bodyPr wrap="square" lIns="0" tIns="0" rIns="0" bIns="0" rtlCol="0" anchor="ctr"/>
          <a:lstStyle/>
          <a:p>
            <a:pPr indent="0" marL="0">
              <a:buNone/>
            </a:pPr>
            <a:r>
              <a:rPr lang="en-US" sz="1500" b="1" dirty="0">
                <a:solidFill>
                  <a:srgbClr val="0033A8"/>
                </a:solidFill>
                <a:latin typeface="Calibri" pitchFamily="34" charset="0"/>
                <a:ea typeface="Calibri" pitchFamily="34" charset="-122"/>
                <a:cs typeface="Calibri" pitchFamily="34" charset="-120"/>
              </a:rPr>
              <a:t>1 function, 1 IAM role</a:t>
            </a:r>
            <a:endParaRPr lang="en-US" sz="1500" dirty="0"/>
          </a:p>
        </p:txBody>
      </p:sp>
      <p:sp>
        <p:nvSpPr>
          <p:cNvPr id="14" name="Text 12"/>
          <p:cNvSpPr txBox="1"/>
          <p:nvPr/>
        </p:nvSpPr>
        <p:spPr>
          <a:xfrm>
            <a:off x="777240" y="4535424"/>
            <a:ext cx="4754880" cy="329184"/>
          </a:xfrm>
          <a:prstGeom prst="rect">
            <a:avLst/>
          </a:prstGeom>
          <a:noFill/>
          <a:ln/>
        </p:spPr>
        <p:txBody>
          <a:bodyPr wrap="square" lIns="0" tIns="0" rIns="0" bIns="0" rtlCol="0" anchor="ctr"/>
          <a:lstStyle/>
          <a:p>
            <a:pPr indent="0" marL="0">
              <a:buNone/>
            </a:pPr>
            <a:r>
              <a:rPr lang="en-US" sz="1300" dirty="0">
                <a:solidFill>
                  <a:srgbClr val="1B2233"/>
                </a:solidFill>
                <a:latin typeface="Calibri" pitchFamily="34" charset="0"/>
                <a:ea typeface="Calibri" pitchFamily="34" charset="-122"/>
                <a:cs typeface="Calibri" pitchFamily="34" charset="-120"/>
              </a:rPr>
              <a:t>Simplest stack, but the role holds the rights of every route</a:t>
            </a:r>
            <a:endParaRPr lang="en-US" sz="1300" dirty="0"/>
          </a:p>
        </p:txBody>
      </p:sp>
      <p:sp>
        <p:nvSpPr>
          <p:cNvPr id="15" name="Shape 13"/>
          <p:cNvSpPr/>
          <p:nvPr/>
        </p:nvSpPr>
        <p:spPr>
          <a:xfrm>
            <a:off x="548640" y="5074920"/>
            <a:ext cx="5120640" cy="822960"/>
          </a:xfrm>
          <a:prstGeom prst="roundRect">
            <a:avLst>
              <a:gd name="adj" fmla="val 8889"/>
            </a:avLst>
          </a:prstGeom>
          <a:solidFill>
            <a:srgbClr val="EAF1FC"/>
          </a:solidFill>
          <a:ln w="12700">
            <a:solidFill>
              <a:srgbClr val="EAF1FC"/>
            </a:solidFill>
            <a:prstDash val="solid"/>
          </a:ln>
        </p:spPr>
        <p:txBody>
          <a:bodyPr/>
          <a:p/>
        </p:txBody>
      </p:sp>
      <p:sp>
        <p:nvSpPr>
          <p:cNvPr id="16" name="Text 14"/>
          <p:cNvSpPr txBox="1"/>
          <p:nvPr/>
        </p:nvSpPr>
        <p:spPr>
          <a:xfrm>
            <a:off x="777240" y="5148072"/>
            <a:ext cx="4754880" cy="347472"/>
          </a:xfrm>
          <a:prstGeom prst="rect">
            <a:avLst/>
          </a:prstGeom>
          <a:noFill/>
          <a:ln/>
        </p:spPr>
        <p:txBody>
          <a:bodyPr wrap="square" lIns="0" tIns="0" rIns="0" bIns="0" rtlCol="0" anchor="ctr"/>
          <a:lstStyle/>
          <a:p>
            <a:pPr indent="0" marL="0">
              <a:buNone/>
            </a:pPr>
            <a:r>
              <a:rPr lang="en-US" sz="1500" b="1" dirty="0">
                <a:solidFill>
                  <a:srgbClr val="0033A8"/>
                </a:solidFill>
                <a:latin typeface="Calibri" pitchFamily="34" charset="0"/>
                <a:ea typeface="Calibri" pitchFamily="34" charset="-122"/>
                <a:cs typeface="Calibri" pitchFamily="34" charset="-120"/>
              </a:rPr>
              <a:t>REST API over HTTP API</a:t>
            </a:r>
            <a:endParaRPr lang="en-US" sz="1500" dirty="0"/>
          </a:p>
        </p:txBody>
      </p:sp>
      <p:sp>
        <p:nvSpPr>
          <p:cNvPr id="17" name="Text 15"/>
          <p:cNvSpPr txBox="1"/>
          <p:nvPr/>
        </p:nvSpPr>
        <p:spPr>
          <a:xfrm>
            <a:off x="777240" y="5495544"/>
            <a:ext cx="4754880" cy="329184"/>
          </a:xfrm>
          <a:prstGeom prst="rect">
            <a:avLst/>
          </a:prstGeom>
          <a:noFill/>
          <a:ln/>
        </p:spPr>
        <p:txBody>
          <a:bodyPr wrap="square" lIns="0" tIns="0" rIns="0" bIns="0" rtlCol="0" anchor="ctr"/>
          <a:lstStyle/>
          <a:p>
            <a:pPr indent="0" marL="0">
              <a:buNone/>
            </a:pPr>
            <a:r>
              <a:rPr lang="en-US" sz="1300" dirty="0">
                <a:solidFill>
                  <a:srgbClr val="1B2233"/>
                </a:solidFill>
                <a:latin typeface="Calibri" pitchFamily="34" charset="0"/>
                <a:ea typeface="Calibri" pitchFamily="34" charset="-122"/>
                <a:cs typeface="Calibri" pitchFamily="34" charset="-120"/>
              </a:rPr>
              <a:t>Request validation and per-method scopes, at a higher price</a:t>
            </a:r>
            <a:endParaRPr lang="en-US" sz="1300" dirty="0"/>
          </a:p>
        </p:txBody>
      </p:sp>
      <p:sp>
        <p:nvSpPr>
          <p:cNvPr id="18" name="Text 16"/>
          <p:cNvSpPr txBox="1"/>
          <p:nvPr/>
        </p:nvSpPr>
        <p:spPr>
          <a:xfrm>
            <a:off x="6126480" y="1645920"/>
            <a:ext cx="5486400" cy="411480"/>
          </a:xfrm>
          <a:prstGeom prst="rect">
            <a:avLst/>
          </a:prstGeom>
          <a:noFill/>
          <a:ln/>
        </p:spPr>
        <p:txBody>
          <a:bodyPr wrap="square" lIns="0" tIns="0" rIns="0" bIns="0" rtlCol="0" anchor="ctr"/>
          <a:lstStyle/>
          <a:p>
            <a:pPr indent="0" marL="0">
              <a:buNone/>
            </a:pPr>
            <a:r>
              <a:rPr lang="en-US" sz="1900" b="1" dirty="0">
                <a:solidFill>
                  <a:srgbClr val="0A1A44"/>
                </a:solidFill>
                <a:latin typeface="Calibri" pitchFamily="34" charset="0"/>
                <a:ea typeface="Calibri" pitchFamily="34" charset="-122"/>
                <a:cs typeface="Calibri" pitchFamily="34" charset="-120"/>
              </a:rPr>
              <a:t>Scope and defaults</a:t>
            </a:r>
            <a:endParaRPr lang="en-US" sz="1900" dirty="0"/>
          </a:p>
        </p:txBody>
      </p:sp>
      <p:sp>
        <p:nvSpPr>
          <p:cNvPr id="19" name="Text 17"/>
          <p:cNvSpPr txBox="1"/>
          <p:nvPr/>
        </p:nvSpPr>
        <p:spPr>
          <a:xfrm>
            <a:off x="6126480" y="2194560"/>
            <a:ext cx="5486400" cy="38404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B2233"/>
                </a:solidFill>
                <a:latin typeface="Calibri" pitchFamily="34" charset="0"/>
                <a:ea typeface="Calibri" pitchFamily="34" charset="-122"/>
                <a:cs typeface="Calibri" pitchFamily="34" charset="-120"/>
              </a:rPr>
              <a:t>Exactly the five requested services, nothing else deployed</a:t>
            </a:r>
            <a:endParaRPr lang="en-US" sz="1500" dirty="0"/>
          </a:p>
          <a:p>
            <a:pPr marL="342900" indent="-342900">
              <a:spcAft>
                <a:spcPts val="900"/>
              </a:spcAft>
              <a:buSzPct val="100000"/>
              <a:buChar char="•"/>
            </a:pPr>
            <a:r>
              <a:rPr lang="en-US" sz="1500" dirty="0">
                <a:solidFill>
                  <a:srgbClr val="1B2233"/>
                </a:solidFill>
                <a:latin typeface="Calibri" pitchFamily="34" charset="0"/>
                <a:ea typeface="Calibri" pitchFamily="34" charset="-122"/>
                <a:cs typeface="Calibri" pitchFamily="34" charset="-120"/>
              </a:rPr>
              <a:t>Supporting resources only: one IAM role, one log group</a:t>
            </a:r>
            <a:endParaRPr lang="en-US" sz="1500" dirty="0"/>
          </a:p>
          <a:p>
            <a:pPr marL="342900" indent="-342900">
              <a:spcAft>
                <a:spcPts val="900"/>
              </a:spcAft>
              <a:buSzPct val="100000"/>
              <a:buChar char="•"/>
            </a:pPr>
            <a:r>
              <a:rPr lang="en-US" sz="1500" dirty="0">
                <a:solidFill>
                  <a:srgbClr val="1B2233"/>
                </a:solidFill>
                <a:latin typeface="Calibri" pitchFamily="34" charset="0"/>
                <a:ea typeface="Calibri" pitchFamily="34" charset="-122"/>
                <a:cs typeface="Calibri" pitchFamily="34" charset="-120"/>
              </a:rPr>
              <a:t>Encryption at rest with AWS managed keys (S3 and DynamoDB)</a:t>
            </a:r>
            <a:endParaRPr lang="en-US" sz="1500" dirty="0"/>
          </a:p>
          <a:p>
            <a:pPr marL="342900" indent="-342900">
              <a:spcAft>
                <a:spcPts val="900"/>
              </a:spcAft>
              <a:buSzPct val="100000"/>
              <a:buChar char="•"/>
            </a:pPr>
            <a:r>
              <a:rPr lang="en-US" sz="1500" dirty="0">
                <a:solidFill>
                  <a:srgbClr val="1B2233"/>
                </a:solidFill>
                <a:latin typeface="Calibri" pitchFamily="34" charset="0"/>
                <a:ea typeface="Calibri" pitchFamily="34" charset="-122"/>
                <a:cs typeface="Calibri" pitchFamily="34" charset="-120"/>
              </a:rPr>
              <a:t>No VPC: Lambda only calls managed AWS APIs, scoped by IAM</a:t>
            </a:r>
            <a:endParaRPr lang="en-US" sz="1500" dirty="0"/>
          </a:p>
          <a:p>
            <a:pPr marL="342900" indent="-342900">
              <a:spcAft>
                <a:spcPts val="900"/>
              </a:spcAft>
              <a:buSzPct val="100000"/>
              <a:buChar char="•"/>
            </a:pPr>
            <a:r>
              <a:rPr lang="en-US" sz="1500" dirty="0">
                <a:solidFill>
                  <a:srgbClr val="1B2233"/>
                </a:solidFill>
                <a:latin typeface="Calibri" pitchFamily="34" charset="0"/>
                <a:ea typeface="Calibri" pitchFamily="34" charset="-122"/>
                <a:cs typeface="Calibri" pitchFamily="34" charset="-120"/>
              </a:rPr>
              <a:t>Throttling at the API Gateway stage: 50 rps, burst 100</a:t>
            </a:r>
            <a:endParaRPr lang="en-US" sz="1500" dirty="0"/>
          </a:p>
          <a:p>
            <a:pPr marL="342900" indent="-342900">
              <a:spcAft>
                <a:spcPts val="900"/>
              </a:spcAft>
              <a:buSzPct val="100000"/>
              <a:buChar char="•"/>
            </a:pPr>
            <a:r>
              <a:rPr lang="en-US" sz="1500" dirty="0">
                <a:solidFill>
                  <a:srgbClr val="1B2233"/>
                </a:solidFill>
                <a:latin typeface="Calibri" pitchFamily="34" charset="0"/>
                <a:ea typeface="Calibri" pitchFamily="34" charset="-122"/>
                <a:cs typeface="Calibri" pitchFamily="34" charset="-120"/>
              </a:rPr>
              <a:t>Destroy-friendly defaults for the demo, protection flags for production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A1A44"/>
        </a:solidFill>
      </p:bgPr>
    </p:bg>
    <p:spTree>
      <p:nvGrpSpPr>
        <p:cNvPr id="1" name=""/>
        <p:cNvGrpSpPr/>
        <p:nvPr/>
      </p:nvGrpSpPr>
      <p:grpSpPr>
        <a:xfrm>
          <a:off x="0" y="0"/>
          <a:ext cx="0" cy="0"/>
          <a:chOff x="0" y="0"/>
          <a:chExt cx="0" cy="0"/>
        </a:xfrm>
      </p:grpSpPr>
      <p:sp>
        <p:nvSpPr>
          <p:cNvPr id="2" name="Shape 0"/>
          <p:cNvSpPr/>
          <p:nvPr/>
        </p:nvSpPr>
        <p:spPr>
          <a:xfrm>
            <a:off x="731520" y="1463040"/>
            <a:ext cx="1005840" cy="1005840"/>
          </a:xfrm>
          <a:prstGeom prst="ellipse">
            <a:avLst/>
          </a:prstGeom>
          <a:solidFill>
            <a:srgbClr val="0033A8"/>
          </a:solidFill>
          <a:ln w="12700">
            <a:solidFill>
              <a:srgbClr val="0033A8"/>
            </a:solidFill>
            <a:prstDash val="solid"/>
          </a:ln>
        </p:spPr>
        <p:txBody>
          <a:bodyPr/>
          <a:p/>
        </p:txBody>
      </p:sp>
      <p:pic>
        <p:nvPicPr>
          <p:cNvPr id="3" name="Image 0" descr="preencoded.png">    </p:cNvPr>
          <p:cNvPicPr>
            <a:picLocks noChangeAspect="1"/>
          </p:cNvPicPr>
          <p:nvPr/>
        </p:nvPicPr>
        <p:blipFill>
          <a:blip r:embed="rId1"/>
          <a:stretch>
            <a:fillRect/>
          </a:stretch>
        </p:blipFill>
        <p:spPr>
          <a:xfrm>
            <a:off x="993038" y="1724558"/>
            <a:ext cx="482803" cy="482803"/>
          </a:xfrm>
          <a:prstGeom prst="rect">
            <a:avLst/>
          </a:prstGeom>
        </p:spPr>
      </p:pic>
      <p:sp>
        <p:nvSpPr>
          <p:cNvPr id="4" name="Text 1"/>
          <p:cNvSpPr txBox="1"/>
          <p:nvPr/>
        </p:nvSpPr>
        <p:spPr>
          <a:xfrm>
            <a:off x="731520" y="2743200"/>
            <a:ext cx="100584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5" name="Text 2"/>
          <p:cNvSpPr txBox="1"/>
          <p:nvPr/>
        </p:nvSpPr>
        <p:spPr>
          <a:xfrm>
            <a:off x="731520" y="3657600"/>
            <a:ext cx="10058400" cy="548640"/>
          </a:xfrm>
          <a:prstGeom prst="rect">
            <a:avLst/>
          </a:prstGeom>
          <a:noFill/>
          <a:ln/>
        </p:spPr>
        <p:txBody>
          <a:bodyPr wrap="square" lIns="0" tIns="0" rIns="0" bIns="0" rtlCol="0" anchor="ctr"/>
          <a:lstStyle/>
          <a:p>
            <a:pPr indent="0" marL="0">
              <a:buNone/>
            </a:pPr>
            <a:r>
              <a:rPr lang="en-US" sz="2400" dirty="0">
                <a:solidFill>
                  <a:srgbClr val="C9D8F5"/>
                </a:solidFill>
                <a:latin typeface="Calibri" pitchFamily="34" charset="0"/>
                <a:ea typeface="Calibri" pitchFamily="34" charset="-122"/>
                <a:cs typeface="Calibri" pitchFamily="34" charset="-120"/>
              </a:rPr>
              <a:t>Questions and discussion</a:t>
            </a:r>
            <a:endParaRPr lang="en-US" sz="2400" dirty="0"/>
          </a:p>
        </p:txBody>
      </p:sp>
      <p:sp>
        <p:nvSpPr>
          <p:cNvPr id="6" name="Text 3"/>
          <p:cNvSpPr txBox="1"/>
          <p:nvPr/>
        </p:nvSpPr>
        <p:spPr>
          <a:xfrm>
            <a:off x="731520" y="5669280"/>
            <a:ext cx="10515600" cy="365760"/>
          </a:xfrm>
          <a:prstGeom prst="rect">
            <a:avLst/>
          </a:prstGeom>
          <a:noFill/>
          <a:ln/>
        </p:spPr>
        <p:txBody>
          <a:bodyPr wrap="square" lIns="0" tIns="0" rIns="0" bIns="0" rtlCol="0" anchor="ctr"/>
          <a:lstStyle/>
          <a:p>
            <a:pPr indent="0" marL="0">
              <a:buNone/>
            </a:pPr>
            <a:r>
              <a:rPr lang="en-US" sz="1400" dirty="0">
                <a:solidFill>
                  <a:srgbClr val="C9D8F5"/>
                </a:solidFill>
                <a:latin typeface="Calibri" pitchFamily="34" charset="0"/>
                <a:ea typeface="Calibri" pitchFamily="34" charset="-122"/>
                <a:cs typeface="Calibri" pitchFamily="34" charset="-120"/>
              </a:rPr>
              <a:t>Repository: README.md · docs/TECHNICAL_SPECIFICATION.md · infra/ · app/ · scripts/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Candidate Management API - Serverless on AWS with Terraform</dc:title>
  <dc:subject>PptxGenJS Presentation</dc:subject>
  <dc:creator>Chrisco Mampuya Ngangu</dc:creator>
  <cp:lastModifiedBy>Chrisco Mampuya Ngangu</cp:lastModifiedBy>
  <cp:revision>1</cp:revision>
  <dcterms:created xsi:type="dcterms:W3CDTF">2026-09-17T04:50:01Z</dcterms:created>
  <dcterms:modified xsi:type="dcterms:W3CDTF">2026-09-17T04:50:01Z</dcterms:modified>
</cp:coreProperties>
</file>